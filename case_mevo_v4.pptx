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73152" cy="6858000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0" y="914400"/>
            <a:ext cx="2286000" cy="2286000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1645920"/>
            <a:ext cx="2286000" cy="2286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0" y="1280160"/>
            <a:ext cx="2286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65760"/>
            <a:ext cx="3474720" cy="10277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1371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18096"/>
                </a:solidFill>
                <a:latin typeface="Calibri"/>
              </a:rPr>
              <a:t>Mais saúde, menos complicação.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02C"/>
                </a:solidFill>
                <a:latin typeface="Calibri"/>
              </a:rPr>
              <a:t>Analytics de Prescrições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2024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1267"/>
                </a:solidFill>
                <a:latin typeface="Calibri"/>
              </a:rPr>
              <a:t>Digitais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517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18096"/>
                </a:solidFill>
                <a:latin typeface="Calibri"/>
              </a:rPr>
              <a:t>Segmentação de Usuários &amp; Planos de 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91840"/>
            <a:ext cx="3200400" cy="36576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4747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18096"/>
                </a:solidFill>
                <a:latin typeface="Calibri"/>
              </a:rPr>
              <a:t>Janeiro – Abril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404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Calibri"/>
              </a:rPr>
              <a:t>70.907 prescrições  ·  68.767 pacientes  ·  15.831 médicos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17352" y="5486400"/>
            <a:ext cx="1371600" cy="1371600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57432" y="6126480"/>
            <a:ext cx="731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1267"/>
                </a:solidFill>
                <a:latin typeface="Calibri"/>
              </a:rPr>
              <a:t>01  RESUMO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1 em cada 2 receitas nunca chega ao paciente — e só 5% convertem digitalmente</a:t>
            </a:r>
          </a:p>
        </p:txBody>
      </p:sp>
      <p:pic>
        <p:nvPicPr>
          <p:cNvPr id="10" name="Picture 9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" y="1508760"/>
            <a:ext cx="1920240" cy="54864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563624"/>
            <a:ext cx="1920240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1848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1267"/>
                </a:solidFill>
                <a:latin typeface="Calibri"/>
              </a:rPr>
              <a:t>70.907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94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Calibri"/>
              </a:rPr>
              <a:t>Prescrições emitidas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1992" y="1508760"/>
            <a:ext cx="1920240" cy="54864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21992" y="1563624"/>
            <a:ext cx="1920240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59152" y="161848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2D8E"/>
                </a:solidFill>
                <a:latin typeface="Calibri"/>
              </a:rPr>
              <a:t>68.767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2194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Calibri"/>
              </a:rPr>
              <a:t>Pacientes únicos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5384" y="1508760"/>
            <a:ext cx="1920240" cy="54864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15384" y="1563624"/>
            <a:ext cx="1920240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161848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2D8E"/>
                </a:solidFill>
                <a:latin typeface="Calibri"/>
              </a:rPr>
              <a:t>15.831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2194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Calibri"/>
              </a:rPr>
              <a:t>Médicos ativos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697480"/>
            <a:ext cx="1920240" cy="54864"/>
          </a:xfrm>
          <a:prstGeom prst="rect">
            <a:avLst/>
          </a:prstGeom>
          <a:solidFill>
            <a:srgbClr val="D69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752344"/>
            <a:ext cx="1920240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8072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69300"/>
                </a:solidFill>
                <a:latin typeface="Calibri"/>
              </a:rPr>
              <a:t>50,4%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Calibri"/>
              </a:rPr>
              <a:t>Open Rate geral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21992" y="2697480"/>
            <a:ext cx="192024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21992" y="2752344"/>
            <a:ext cx="1920240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9152" y="28072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3E3E"/>
                </a:solidFill>
                <a:latin typeface="Calibri"/>
              </a:rPr>
              <a:t>10,2%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9152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Calibri"/>
              </a:rPr>
              <a:t>Conv. s/ visualizadas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15384" y="2697480"/>
            <a:ext cx="1920240" cy="54864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15384" y="2752344"/>
            <a:ext cx="1920240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2544" y="28072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1267"/>
                </a:solidFill>
                <a:latin typeface="Calibri"/>
              </a:rPr>
              <a:t>4.601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Calibri"/>
              </a:rPr>
              <a:t>Vendas realizadas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242816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041648"/>
            <a:ext cx="115031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Plataforma em crescimento: +22% de Jan a Mar, tendência acelerada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928616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727448"/>
            <a:ext cx="115031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35.135 receitas não abertas = conversão possível sem novos médicos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5614416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413248"/>
            <a:ext cx="115031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970 compras sem rastreio digital — fechar esse gap agrega 21% ao funil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F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1267"/>
                </a:solidFill>
                <a:latin typeface="Calibri"/>
              </a:rPr>
              <a:t>02  VOLUME &amp; SAZONALIDADE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Quinta-feira às 13h: a janela de ouro para notificar o paciente</a:t>
            </a:r>
          </a:p>
        </p:txBody>
      </p:sp>
      <p:pic>
        <p:nvPicPr>
          <p:cNvPr id="9" name="Picture 8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pic>
        <p:nvPicPr>
          <p:cNvPr id="10" name="Picture 9" descr="fig_mevo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81328"/>
            <a:ext cx="8138160" cy="5074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1267"/>
                </a:solidFill>
                <a:latin typeface="Calibri"/>
              </a:rPr>
              <a:t>Takeaway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828800"/>
            <a:ext cx="3383280" cy="36576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21671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Pico semanal: quinta-feira (13.071 presc.) — quarta e terça também fortes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529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Pico diário às 13h — médico emite logo após consulta matinal. SLA de notificação &lt; 5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5387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Fins de semana -57% — janela ideal para re-engajar prescrições não convertidas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1267"/>
                </a:solidFill>
                <a:latin typeface="Calibri"/>
              </a:rPr>
              <a:t>03  PERFIL DOS PACIENTES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Millennials e Gen X: 57% do volume e maior conversão — Gen Z abre mas não compra</a:t>
            </a:r>
          </a:p>
        </p:txBody>
      </p:sp>
      <p:pic>
        <p:nvPicPr>
          <p:cNvPr id="9" name="Picture 8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pic>
        <p:nvPicPr>
          <p:cNvPr id="10" name="Picture 9" descr="fig_mevo_gera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81328"/>
            <a:ext cx="8138160" cy="5074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1267"/>
                </a:solidFill>
                <a:latin typeface="Calibri"/>
              </a:rPr>
              <a:t>Takeaway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828800"/>
            <a:ext cx="3383280" cy="36576"/>
          </a:xfrm>
          <a:prstGeom prst="rect">
            <a:avLst/>
          </a:prstGeom>
          <a:solidFill>
            <a:srgbClr val="FE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21671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Millennials (29-44) + Gen X (45-60) = 57% das presc. e conversão 10-13%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529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Gen Z (13-28): OR 57,5% — o que mais abre. Mas conversão 7,5% — não compra online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5387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Boomers 70+: OR 37% — comunicar ao cuidador, não ao paciente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F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04  OPEN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35.135 receitas nunca acessadas — cada 1% de melhoria vale +709 pacientes alcançados</a:t>
            </a:r>
          </a:p>
        </p:txBody>
      </p:sp>
      <p:pic>
        <p:nvPicPr>
          <p:cNvPr id="9" name="Picture 8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pic>
        <p:nvPicPr>
          <p:cNvPr id="10" name="Picture 9" descr="fig_mevo_open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81328"/>
            <a:ext cx="8138160" cy="5074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3E3E"/>
                </a:solidFill>
                <a:latin typeface="Calibri"/>
              </a:rPr>
              <a:t>Takeaway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828800"/>
            <a:ext cx="3383280" cy="36576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2167128"/>
            <a:ext cx="73152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OR estável em ~50% há 4 meses — sinal de estagnação sem intervenção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52928"/>
            <a:ext cx="73152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Cirurgia Geral: OR 71,8% (topo) — investigar o que fazem diferente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538728"/>
            <a:ext cx="73152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Meta 90d: OR 60% via push personalizado pós-emissão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1267"/>
                </a:solidFill>
                <a:latin typeface="Calibri"/>
              </a:rPr>
              <a:t>05  CONVERSÃO POR CANAL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89,8% das visualizações não convertem — marketplace é o canal com maior potencial</a:t>
            </a:r>
          </a:p>
        </p:txBody>
      </p:sp>
      <p:pic>
        <p:nvPicPr>
          <p:cNvPr id="9" name="Picture 8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pic>
        <p:nvPicPr>
          <p:cNvPr id="10" name="Picture 9" descr="fig_mevo_conver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81328"/>
            <a:ext cx="8138160" cy="5074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1267"/>
                </a:solidFill>
                <a:latin typeface="Calibri"/>
              </a:rPr>
              <a:t>Takeaway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828800"/>
            <a:ext cx="3383280" cy="36576"/>
          </a:xfrm>
          <a:prstGeom prst="rect">
            <a:avLst/>
          </a:prstGeom>
          <a:solidFill>
            <a:srgbClr val="FE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21671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Farmácia física: 84% das vendas — offline domina, mas sem rastreio digital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529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Marketplace: 722 vendas (16%) com potencial de 5x via redução de fricção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5387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970 compras sem abertura digital — QR Code fecha esse gap e melhora o funil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F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06  BASE DE MÉDICOS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57% dos médicos de Janeiro não prescreveram em Abril — churn é o maior risco</a:t>
            </a:r>
          </a:p>
        </p:txBody>
      </p:sp>
      <p:pic>
        <p:nvPicPr>
          <p:cNvPr id="9" name="Picture 8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pic>
        <p:nvPicPr>
          <p:cNvPr id="10" name="Picture 9" descr="fig_mevo_medi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81328"/>
            <a:ext cx="8138160" cy="5074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3E3E"/>
                </a:solidFill>
                <a:latin typeface="Calibri"/>
              </a:rPr>
              <a:t>Takeaway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828800"/>
            <a:ext cx="3383280" cy="36576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2167128"/>
            <a:ext cx="73152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VIP (92 médicos): OR 61,4% e 10,7% do volume — 1 VIP perdido = 83 presc./mês a menos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52928"/>
            <a:ext cx="73152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36% dos médicos geram 80% das prescrições — concentração exige programa de retenção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538728"/>
            <a:ext cx="73152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Low (9.388 med.): mediana 1 mês ativo — maioria são one-timers sem onboarding efetivo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1267"/>
                </a:solidFill>
                <a:latin typeface="Calibri"/>
              </a:rPr>
              <a:t>07  ESPECIALIDADES EM DESTAQUE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Psiquiatria converte 2,3x a média — medicamentos controlados criam canal obrigatório</a:t>
            </a:r>
          </a:p>
        </p:txBody>
      </p:sp>
      <p:pic>
        <p:nvPicPr>
          <p:cNvPr id="9" name="Picture 8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pic>
        <p:nvPicPr>
          <p:cNvPr id="10" name="Picture 9" descr="fig_mevo_especialida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81328"/>
            <a:ext cx="8138160" cy="5074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1267"/>
                </a:solidFill>
                <a:latin typeface="Calibri"/>
              </a:rPr>
              <a:t>Takeaway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828800"/>
            <a:ext cx="3383280" cy="36576"/>
          </a:xfrm>
          <a:prstGeom prst="rect">
            <a:avLst/>
          </a:prstGeom>
          <a:solidFill>
            <a:srgbClr val="FE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21671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Psiquiatria: 23,9% de conversão (2,3x a média) — 85% são controlados = canal obrigatório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529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Cirurgia Geral: OR 71,8% mas conv. 8,9% — paciente abre mas compra no hospital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5387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Ortopedia: conv. 13% — segundo melhor; potencial com push por tipo de procedimento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F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1267"/>
                </a:solidFill>
                <a:latin typeface="Calibri"/>
              </a:rPr>
              <a:t>08  SEGMENTAÇÃO COMPORTAMENTAL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93% das prescrições estão nos quadrantes de perda — 4 estratégias para reverter</a:t>
            </a:r>
          </a:p>
        </p:txBody>
      </p:sp>
      <p:pic>
        <p:nvPicPr>
          <p:cNvPr id="9" name="Picture 8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pic>
        <p:nvPicPr>
          <p:cNvPr id="10" name="Picture 9" descr="fig_mevo_comporta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81328"/>
            <a:ext cx="8138160" cy="5074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549640" y="1600200"/>
            <a:ext cx="3429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1600200"/>
            <a:ext cx="128016" cy="1143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41664" y="16733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Inativo Digital  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2039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Push &lt; 5 min
pós-emissão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2862072"/>
            <a:ext cx="3429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2862072"/>
            <a:ext cx="128016" cy="1143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4" y="29352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8936"/>
                </a:solidFill>
                <a:latin typeface="Calibri"/>
              </a:rPr>
              <a:t>Engajado s/ Conv. 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330098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Lembrete 2h
e 24h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4123944"/>
            <a:ext cx="3429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4123944"/>
            <a:ext cx="128016" cy="1143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41664" y="41970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D8E"/>
                </a:solidFill>
                <a:latin typeface="Calibri"/>
              </a:rPr>
              <a:t>S/ Rastreio  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456285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QR Code
na receita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5385816"/>
            <a:ext cx="3429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5385816"/>
            <a:ext cx="128016" cy="11430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4" y="5458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1267"/>
                </a:solidFill>
                <a:latin typeface="Calibri"/>
              </a:rPr>
              <a:t>Convertido Digital 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1664" y="582472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Renovação
automática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1267"/>
                </a:solidFill>
                <a:latin typeface="Calibri"/>
              </a:rPr>
              <a:t>09  INTELIGÊNCIA GEOGRÁFICA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RJ e DF: alta abertura, baixa conversão — SC e RS são os modelos a replicar</a:t>
            </a:r>
          </a:p>
        </p:txBody>
      </p:sp>
      <p:pic>
        <p:nvPicPr>
          <p:cNvPr id="9" name="Picture 8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pic>
        <p:nvPicPr>
          <p:cNvPr id="10" name="Picture 9" descr="fig_mevo_est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81328"/>
            <a:ext cx="8138160" cy="5074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1267"/>
                </a:solidFill>
                <a:latin typeface="Calibri"/>
              </a:rPr>
              <a:t>Takeaway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828800"/>
            <a:ext cx="3383280" cy="36576"/>
          </a:xfrm>
          <a:prstGeom prst="rect">
            <a:avLst/>
          </a:prstGeom>
          <a:solidFill>
            <a:srgbClr val="FE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21671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SC: OR 61,5% + conv 12,7% — melhor combinação do país. Replicar modelo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529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RS: conversão 14,9% (topo nacional) — investigar o que gera mais compra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538728"/>
            <a:ext cx="73152" cy="73152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RJ: OR 54,7% mas conv 3,8% — anomalia crítica. Investigar estoque e preço local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17352" y="5486400"/>
            <a:ext cx="1371600" cy="1371600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57432" y="6126480"/>
            <a:ext cx="731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1267"/>
                </a:solidFill>
                <a:latin typeface="Calibri"/>
              </a:rPr>
              <a:t>10  PLANOS DE AÇÃO SEGMENTADOS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20624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02C"/>
                </a:solidFill>
                <a:latin typeface="Calibri"/>
              </a:rPr>
              <a:t>7 iniciativas com segmento, ação e meta — priorizadas por impacto</a:t>
            </a:r>
          </a:p>
        </p:txBody>
      </p:sp>
      <p:pic>
        <p:nvPicPr>
          <p:cNvPr id="10" name="Picture 9" descr="logo_mev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91640" cy="5003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2880" y="1463040"/>
            <a:ext cx="1664208" cy="40233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463040"/>
            <a:ext cx="16642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Inativo
Digital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65376"/>
            <a:ext cx="1664208" cy="1837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E3E"/>
                </a:solidFill>
                <a:latin typeface="Calibri"/>
              </a:rPr>
              <a:t>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139696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Push/SMS &lt; 5 min
pós-emissão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E3E"/>
                </a:solidFill>
                <a:latin typeface="Calibri"/>
              </a:rPr>
              <a:t>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1868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  <a:latin typeface="Calibri"/>
              </a:rPr>
              <a:t>Meta:
OR → 60%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7380" y="1463040"/>
            <a:ext cx="1664208" cy="402336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97380" y="1463040"/>
            <a:ext cx="16642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Médicos VIP
(92)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97380" y="1865376"/>
            <a:ext cx="1664208" cy="1837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8820" y="19202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1267"/>
                </a:solidFill>
                <a:latin typeface="Calibri"/>
              </a:rPr>
              <a:t>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8820" y="2139696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Programa dedicado
NPS mensal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882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1267"/>
                </a:solidFill>
                <a:latin typeface="Calibri"/>
              </a:rPr>
              <a:t>META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8820" y="321868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  <a:latin typeface="Calibri"/>
              </a:rPr>
              <a:t>Meta:
Churn → 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1463040"/>
            <a:ext cx="1664208" cy="402336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1463040"/>
            <a:ext cx="16642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Market-
place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1865376"/>
            <a:ext cx="1664208" cy="1837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19202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B2D8E"/>
                </a:solidFill>
                <a:latin typeface="Calibri"/>
              </a:rPr>
              <a:t>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139696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Desconto 1ª
compra digital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B2D8E"/>
                </a:solidFill>
                <a:latin typeface="Calibri"/>
              </a:rPr>
              <a:t>META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21868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  <a:latin typeface="Calibri"/>
              </a:rPr>
              <a:t>Meta:
20% do mix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26380" y="1463040"/>
            <a:ext cx="1664208" cy="402336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6380" y="1463040"/>
            <a:ext cx="16642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Engajado
s/ Conv.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26380" y="1865376"/>
            <a:ext cx="1664208" cy="1837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17820" y="19202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D8936"/>
                </a:solidFill>
                <a:latin typeface="Calibri"/>
              </a:rPr>
              <a:t>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7820" y="2139696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Lembrete
2h e 24h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1782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D8936"/>
                </a:solidFill>
                <a:latin typeface="Calibri"/>
              </a:rPr>
              <a:t>META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7820" y="321868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  <a:latin typeface="Calibri"/>
              </a:rPr>
              <a:t>Meta:
Conv → 13%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1463040"/>
            <a:ext cx="1664208" cy="402336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1463040"/>
            <a:ext cx="16642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Psiquia-
tria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1865376"/>
            <a:ext cx="1664208" cy="1837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19202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B2D8E"/>
                </a:solidFill>
                <a:latin typeface="Calibri"/>
              </a:rPr>
              <a:t>AÇÃO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2139696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Parceria distrib.
controlados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B2D8E"/>
                </a:solidFill>
                <a:latin typeface="Calibri"/>
              </a:rPr>
              <a:t>META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21868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  <a:latin typeface="Calibri"/>
              </a:rPr>
              <a:t>Meta:
Conv → 30%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55380" y="1463040"/>
            <a:ext cx="1664208" cy="402336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5380" y="1463040"/>
            <a:ext cx="16642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RJ —
Anomalia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55380" y="1865376"/>
            <a:ext cx="1664208" cy="1837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46820" y="19202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18096"/>
                </a:solidFill>
                <a:latin typeface="Calibri"/>
              </a:rPr>
              <a:t>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46820" y="2139696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Diagnóstico:
estoque + UX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4682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18096"/>
                </a:solidFill>
                <a:latin typeface="Calibri"/>
              </a:rPr>
              <a:t>META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46820" y="321868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  <a:latin typeface="Calibri"/>
              </a:rPr>
              <a:t>Meta:
Conv → 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69880" y="1463040"/>
            <a:ext cx="1664208" cy="402336"/>
          </a:xfrm>
          <a:prstGeom prst="rect">
            <a:avLst/>
          </a:prstGeom>
          <a:solidFill>
            <a:srgbClr val="F68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69880" y="1463040"/>
            <a:ext cx="16642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Crônicos
(2,9%)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69880" y="1865376"/>
            <a:ext cx="1664208" cy="1837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61320" y="19202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687B3"/>
                </a:solidFill>
                <a:latin typeface="Calibri"/>
              </a:rPr>
              <a:t>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2139696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  <a:latin typeface="Calibri"/>
              </a:rPr>
              <a:t>Renovação
automática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6132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687B3"/>
                </a:solidFill>
                <a:latin typeface="Calibri"/>
              </a:rPr>
              <a:t>META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61320" y="321868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  <a:latin typeface="Calibri"/>
              </a:rPr>
              <a:t>Meta:
LTV +40%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81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68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mevo_branca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834640" cy="838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011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687B3"/>
                </a:solidFill>
                <a:latin typeface="Calibri"/>
              </a:rPr>
              <a:t>11  PDCA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60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Ciclo de
Melhoria
Continua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86000"/>
            <a:ext cx="3474720" cy="36576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423160"/>
            <a:ext cx="475488" cy="475488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4231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1267"/>
                </a:solidFill>
                <a:latin typeface="Calibri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687B3"/>
                </a:solidFill>
                <a:latin typeface="Calibri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7919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OR: 60%  |  Conv: 13%  |  Churn medicos: &lt;30%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83864"/>
            <a:ext cx="475488" cy="475488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4838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1267"/>
                </a:solidFill>
                <a:latin typeface="Calibri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838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687B3"/>
                </a:solidFill>
                <a:latin typeface="Calibri"/>
              </a:rPr>
              <a:t>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39896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Push &lt;5 min  |  VIP program  |  Desconto marketplace  |  QR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44568"/>
            <a:ext cx="475488" cy="475488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5445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1267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44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687B3"/>
                </a:solidFill>
                <a:latin typeface="Calibri"/>
              </a:rP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OR e conversao por especialidade  |  Churn semanal  |  SLA notif.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605272"/>
            <a:ext cx="475488" cy="475488"/>
          </a:xfrm>
          <a:prstGeom prst="rect">
            <a:avLst/>
          </a:prstGeom>
          <a:solidFill>
            <a:srgbClr val="FB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6052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1267"/>
                </a:solidFill>
                <a:latin typeface="Calibr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05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687B3"/>
                </a:solidFill>
                <a:latin typeface="Calibri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61304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OR &lt;55% revisar copy  |  Conv &lt;11% testar UX  |  Churn &gt;35% entrevistas</a:t>
            </a:r>
          </a:p>
        </p:txBody>
      </p:sp>
      <p:pic>
        <p:nvPicPr>
          <p:cNvPr id="25" name="Picture 24" descr="fig_pdca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20040"/>
            <a:ext cx="7863840" cy="6309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