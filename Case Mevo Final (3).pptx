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185c62d8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8185c62d8_2_75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8185c62d8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8185c62d8_2_94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8185c62d8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8185c62d8_2_13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8185c62d8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d8185c62d8_2_15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8185c62d8_2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d8185c62d8_2_17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8185c62d8_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d8185c62d8_2_19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8185c62d8_2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d8185c62d8_2_21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8185c62d8_2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d8185c62d8_2_23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8185c62d8_2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d8185c62d8_2_25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d8185c62d8_2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d8185c62d8_2_284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8185c62d8_2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d8185c62d8_2_304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8185c62d8_2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d8185c62d8_2_365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479" y="1597819"/>
            <a:ext cx="583075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957" y="2914650"/>
            <a:ext cx="4801801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870" y="3305175"/>
            <a:ext cx="583075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870" y="2180035"/>
            <a:ext cx="583075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86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7022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86" y="1151335"/>
            <a:ext cx="3030899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86" y="1631156"/>
            <a:ext cx="3030899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4640" y="1151335"/>
            <a:ext cx="303209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4640" y="1631156"/>
            <a:ext cx="303209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86" y="204788"/>
            <a:ext cx="2256799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958" y="204788"/>
            <a:ext cx="3834772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86" y="1076325"/>
            <a:ext cx="225679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552" y="3600450"/>
            <a:ext cx="411583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552" y="459581"/>
            <a:ext cx="411583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552" y="4025503"/>
            <a:ext cx="411583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2622" y="-189486"/>
            <a:ext cx="3394472" cy="61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50690" y="1628582"/>
            <a:ext cx="4388644" cy="1543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654" y="142311"/>
            <a:ext cx="4388644" cy="45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5830759" y="0"/>
            <a:ext cx="3313243" cy="5143500"/>
          </a:xfrm>
          <a:prstGeom prst="rect">
            <a:avLst/>
          </a:prstGeom>
          <a:solidFill>
            <a:srgbClr val="FFE4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5830759" y="0"/>
            <a:ext cx="54878" cy="5143500"/>
          </a:xfrm>
          <a:prstGeom prst="rect">
            <a:avLst/>
          </a:prstGeom>
          <a:solidFill>
            <a:srgbClr val="FBBC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0" y="0"/>
            <a:ext cx="123475" cy="5143500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6310939" y="685800"/>
            <a:ext cx="1714929" cy="1714500"/>
          </a:xfrm>
          <a:prstGeom prst="rect">
            <a:avLst/>
          </a:prstGeom>
          <a:solidFill>
            <a:srgbClr val="FBBC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6585327" y="960120"/>
            <a:ext cx="1714929" cy="1714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mevo_real.png" id="135" name="Google Shape;1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2342" y="274320"/>
            <a:ext cx="2606040" cy="77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6036550" y="1028700"/>
            <a:ext cx="294967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Mais saúde, menos complicação.</a:t>
            </a:r>
            <a:endParaRPr sz="1100"/>
          </a:p>
        </p:txBody>
      </p:sp>
      <p:sp>
        <p:nvSpPr>
          <p:cNvPr id="137" name="Google Shape;137;p25"/>
          <p:cNvSpPr txBox="1"/>
          <p:nvPr/>
        </p:nvSpPr>
        <p:spPr>
          <a:xfrm>
            <a:off x="308687" y="1028700"/>
            <a:ext cx="535057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7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Analytics de Prescrições</a:t>
            </a:r>
            <a:endParaRPr sz="1100"/>
          </a:p>
        </p:txBody>
      </p:sp>
      <p:sp>
        <p:nvSpPr>
          <p:cNvPr id="138" name="Google Shape;138;p25"/>
          <p:cNvSpPr txBox="1"/>
          <p:nvPr/>
        </p:nvSpPr>
        <p:spPr>
          <a:xfrm>
            <a:off x="308687" y="1440180"/>
            <a:ext cx="535057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7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Digitais</a:t>
            </a:r>
            <a:endParaRPr sz="1100"/>
          </a:p>
        </p:txBody>
      </p:sp>
      <p:sp>
        <p:nvSpPr>
          <p:cNvPr id="139" name="Google Shape;139;p25"/>
          <p:cNvSpPr txBox="1"/>
          <p:nvPr/>
        </p:nvSpPr>
        <p:spPr>
          <a:xfrm>
            <a:off x="308687" y="1988820"/>
            <a:ext cx="53505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Segmentação de Usuários &amp; Planos de Ação</a:t>
            </a:r>
            <a:endParaRPr sz="1100"/>
          </a:p>
        </p:txBody>
      </p:sp>
      <p:sp>
        <p:nvSpPr>
          <p:cNvPr id="140" name="Google Shape;140;p25"/>
          <p:cNvSpPr/>
          <p:nvPr/>
        </p:nvSpPr>
        <p:spPr>
          <a:xfrm>
            <a:off x="308687" y="2468880"/>
            <a:ext cx="2400901" cy="27432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308687" y="2606040"/>
            <a:ext cx="53505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Janeiro – Abril 2025</a:t>
            </a:r>
            <a:endParaRPr sz="1100"/>
          </a:p>
        </p:txBody>
      </p:sp>
      <p:sp>
        <p:nvSpPr>
          <p:cNvPr id="142" name="Google Shape;142;p25"/>
          <p:cNvSpPr txBox="1"/>
          <p:nvPr/>
        </p:nvSpPr>
        <p:spPr>
          <a:xfrm>
            <a:off x="308687" y="2880360"/>
            <a:ext cx="53505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70.907 prescrições  ·  68.767 pacientes  ·  15.831 médicos</a:t>
            </a:r>
            <a:endParaRPr sz="1100"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7425" y="2958950"/>
            <a:ext cx="2855875" cy="5373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FE4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8115044" y="4114800"/>
            <a:ext cx="1028957" cy="1028700"/>
          </a:xfrm>
          <a:prstGeom prst="rect">
            <a:avLst/>
          </a:prstGeom>
          <a:solidFill>
            <a:srgbClr val="FBBC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8595224" y="4594860"/>
            <a:ext cx="548777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0" y="0"/>
            <a:ext cx="9144002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0" y="0"/>
            <a:ext cx="123475" cy="1028700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6"/>
          <p:cNvSpPr/>
          <p:nvPr/>
        </p:nvSpPr>
        <p:spPr>
          <a:xfrm>
            <a:off x="0" y="1028700"/>
            <a:ext cx="9144002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260669" y="68580"/>
            <a:ext cx="685971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01  RESUMO EXECUTIVO</a:t>
            </a:r>
            <a:endParaRPr sz="1100"/>
          </a:p>
        </p:txBody>
      </p:sp>
      <p:sp>
        <p:nvSpPr>
          <p:cNvPr id="155" name="Google Shape;155;p26"/>
          <p:cNvSpPr txBox="1"/>
          <p:nvPr/>
        </p:nvSpPr>
        <p:spPr>
          <a:xfrm>
            <a:off x="260669" y="315468"/>
            <a:ext cx="8506048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1 em cada 2 receitas nunca chega ao paciente — e só 5% convertem digitalmente</a:t>
            </a:r>
            <a:endParaRPr sz="1100"/>
          </a:p>
        </p:txBody>
      </p:sp>
      <p:pic>
        <p:nvPicPr>
          <p:cNvPr descr="logo_mevo_real.png" id="156" name="Google Shape;1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461" y="82296"/>
            <a:ext cx="1268730" cy="37525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/>
          <p:nvPr/>
        </p:nvSpPr>
        <p:spPr>
          <a:xfrm>
            <a:off x="171493" y="1131570"/>
            <a:ext cx="1440540" cy="41148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171493" y="1172718"/>
            <a:ext cx="1440540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274389" y="1213866"/>
            <a:ext cx="1303346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70.907</a:t>
            </a:r>
            <a:endParaRPr sz="1100"/>
          </a:p>
        </p:txBody>
      </p:sp>
      <p:sp>
        <p:nvSpPr>
          <p:cNvPr id="160" name="Google Shape;160;p26"/>
          <p:cNvSpPr txBox="1"/>
          <p:nvPr/>
        </p:nvSpPr>
        <p:spPr>
          <a:xfrm>
            <a:off x="274389" y="1645920"/>
            <a:ext cx="13033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Prescrições emitidas</a:t>
            </a:r>
            <a:endParaRPr sz="1100"/>
          </a:p>
        </p:txBody>
      </p:sp>
      <p:sp>
        <p:nvSpPr>
          <p:cNvPr id="161" name="Google Shape;161;p26"/>
          <p:cNvSpPr/>
          <p:nvPr/>
        </p:nvSpPr>
        <p:spPr>
          <a:xfrm>
            <a:off x="1666911" y="1131570"/>
            <a:ext cx="1440540" cy="41148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1666911" y="1172718"/>
            <a:ext cx="1440540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1769807" y="1213866"/>
            <a:ext cx="1303346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68.767</a:t>
            </a:r>
            <a:endParaRPr sz="1100"/>
          </a:p>
        </p:txBody>
      </p:sp>
      <p:sp>
        <p:nvSpPr>
          <p:cNvPr id="164" name="Google Shape;164;p26"/>
          <p:cNvSpPr txBox="1"/>
          <p:nvPr/>
        </p:nvSpPr>
        <p:spPr>
          <a:xfrm>
            <a:off x="1769807" y="1645920"/>
            <a:ext cx="13033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Pacientes únicos</a:t>
            </a:r>
            <a:endParaRPr sz="1100"/>
          </a:p>
        </p:txBody>
      </p:sp>
      <p:sp>
        <p:nvSpPr>
          <p:cNvPr id="165" name="Google Shape;165;p26"/>
          <p:cNvSpPr/>
          <p:nvPr/>
        </p:nvSpPr>
        <p:spPr>
          <a:xfrm>
            <a:off x="3162329" y="1131570"/>
            <a:ext cx="1440540" cy="41148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3162329" y="1172718"/>
            <a:ext cx="1440540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3265225" y="1213866"/>
            <a:ext cx="1303346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15.831</a:t>
            </a:r>
            <a:endParaRPr sz="1100"/>
          </a:p>
        </p:txBody>
      </p:sp>
      <p:sp>
        <p:nvSpPr>
          <p:cNvPr id="168" name="Google Shape;168;p26"/>
          <p:cNvSpPr txBox="1"/>
          <p:nvPr/>
        </p:nvSpPr>
        <p:spPr>
          <a:xfrm>
            <a:off x="3265225" y="1645920"/>
            <a:ext cx="13033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Médicos ativos</a:t>
            </a:r>
            <a:endParaRPr sz="1100"/>
          </a:p>
        </p:txBody>
      </p:sp>
      <p:sp>
        <p:nvSpPr>
          <p:cNvPr id="169" name="Google Shape;169;p26"/>
          <p:cNvSpPr/>
          <p:nvPr/>
        </p:nvSpPr>
        <p:spPr>
          <a:xfrm>
            <a:off x="171493" y="2023110"/>
            <a:ext cx="1440540" cy="41148"/>
          </a:xfrm>
          <a:prstGeom prst="rect">
            <a:avLst/>
          </a:prstGeom>
          <a:solidFill>
            <a:srgbClr val="D693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171493" y="2064258"/>
            <a:ext cx="1440540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274389" y="2105406"/>
            <a:ext cx="1303346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rgbClr val="D69300"/>
                </a:solidFill>
                <a:latin typeface="Calibri"/>
                <a:ea typeface="Calibri"/>
                <a:cs typeface="Calibri"/>
                <a:sym typeface="Calibri"/>
              </a:rPr>
              <a:t>50,4%</a:t>
            </a:r>
            <a:endParaRPr sz="1100"/>
          </a:p>
        </p:txBody>
      </p:sp>
      <p:sp>
        <p:nvSpPr>
          <p:cNvPr id="172" name="Google Shape;172;p26"/>
          <p:cNvSpPr txBox="1"/>
          <p:nvPr/>
        </p:nvSpPr>
        <p:spPr>
          <a:xfrm>
            <a:off x="274389" y="2537460"/>
            <a:ext cx="13033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Open Rate geral</a:t>
            </a:r>
            <a:endParaRPr sz="1100"/>
          </a:p>
        </p:txBody>
      </p:sp>
      <p:sp>
        <p:nvSpPr>
          <p:cNvPr id="173" name="Google Shape;173;p26"/>
          <p:cNvSpPr/>
          <p:nvPr/>
        </p:nvSpPr>
        <p:spPr>
          <a:xfrm>
            <a:off x="1666911" y="2023110"/>
            <a:ext cx="1440540" cy="41148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1666911" y="2064258"/>
            <a:ext cx="1440540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1769807" y="2105406"/>
            <a:ext cx="1303346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10,2%</a:t>
            </a:r>
            <a:endParaRPr sz="1100"/>
          </a:p>
        </p:txBody>
      </p:sp>
      <p:sp>
        <p:nvSpPr>
          <p:cNvPr id="176" name="Google Shape;176;p26"/>
          <p:cNvSpPr txBox="1"/>
          <p:nvPr/>
        </p:nvSpPr>
        <p:spPr>
          <a:xfrm>
            <a:off x="1769807" y="2537460"/>
            <a:ext cx="13033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Conv. s/ visualizadas</a:t>
            </a:r>
            <a:endParaRPr sz="1100"/>
          </a:p>
        </p:txBody>
      </p:sp>
      <p:sp>
        <p:nvSpPr>
          <p:cNvPr id="177" name="Google Shape;177;p26"/>
          <p:cNvSpPr/>
          <p:nvPr/>
        </p:nvSpPr>
        <p:spPr>
          <a:xfrm>
            <a:off x="3162329" y="2023110"/>
            <a:ext cx="1440540" cy="41148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3162329" y="2064258"/>
            <a:ext cx="1440540" cy="7955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3265225" y="2105406"/>
            <a:ext cx="1303346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4.601</a:t>
            </a:r>
            <a:endParaRPr sz="1100"/>
          </a:p>
        </p:txBody>
      </p:sp>
      <p:sp>
        <p:nvSpPr>
          <p:cNvPr id="180" name="Google Shape;180;p26"/>
          <p:cNvSpPr txBox="1"/>
          <p:nvPr/>
        </p:nvSpPr>
        <p:spPr>
          <a:xfrm>
            <a:off x="3265225" y="2537460"/>
            <a:ext cx="1303346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Vendas realizadas</a:t>
            </a:r>
            <a:endParaRPr sz="1100"/>
          </a:p>
        </p:txBody>
      </p:sp>
      <p:sp>
        <p:nvSpPr>
          <p:cNvPr id="181" name="Google Shape;181;p26"/>
          <p:cNvSpPr/>
          <p:nvPr/>
        </p:nvSpPr>
        <p:spPr>
          <a:xfrm>
            <a:off x="171493" y="3182112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308687" y="3031236"/>
            <a:ext cx="8629523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Plataforma em crescimento: +22% de Jan a Mar, tendência acelerada</a:t>
            </a:r>
            <a:endParaRPr sz="1100"/>
          </a:p>
        </p:txBody>
      </p:sp>
      <p:sp>
        <p:nvSpPr>
          <p:cNvPr id="183" name="Google Shape;183;p26"/>
          <p:cNvSpPr/>
          <p:nvPr/>
        </p:nvSpPr>
        <p:spPr>
          <a:xfrm>
            <a:off x="171493" y="3696462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308687" y="3545586"/>
            <a:ext cx="8629523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35.135 receitas não abertas = conversão possível sem novos médicos</a:t>
            </a:r>
            <a:endParaRPr sz="1100"/>
          </a:p>
        </p:txBody>
      </p:sp>
      <p:sp>
        <p:nvSpPr>
          <p:cNvPr id="185" name="Google Shape;185;p26"/>
          <p:cNvSpPr/>
          <p:nvPr/>
        </p:nvSpPr>
        <p:spPr>
          <a:xfrm>
            <a:off x="171493" y="4210812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308687" y="4059936"/>
            <a:ext cx="8629523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970 compras sem rastreio digital — fechar esse gap agrega 21% ao funil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6310939" y="0"/>
            <a:ext cx="2833063" cy="5143500"/>
          </a:xfrm>
          <a:prstGeom prst="rect">
            <a:avLst/>
          </a:prstGeom>
          <a:solidFill>
            <a:srgbClr val="FFE4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0" y="0"/>
            <a:ext cx="9144002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7"/>
          <p:cNvSpPr/>
          <p:nvPr/>
        </p:nvSpPr>
        <p:spPr>
          <a:xfrm>
            <a:off x="0" y="0"/>
            <a:ext cx="123475" cy="1028700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0" y="1028700"/>
            <a:ext cx="9144002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260669" y="68580"/>
            <a:ext cx="685971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02  VOLUME &amp; SAZONALIDADE</a:t>
            </a:r>
            <a:endParaRPr sz="1100"/>
          </a:p>
        </p:txBody>
      </p:sp>
      <p:sp>
        <p:nvSpPr>
          <p:cNvPr id="197" name="Google Shape;197;p27"/>
          <p:cNvSpPr txBox="1"/>
          <p:nvPr/>
        </p:nvSpPr>
        <p:spPr>
          <a:xfrm>
            <a:off x="260669" y="315468"/>
            <a:ext cx="8506048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Quinta-feira às 13h: a janela de ouro para notificar o paciente</a:t>
            </a:r>
            <a:endParaRPr sz="1100"/>
          </a:p>
        </p:txBody>
      </p:sp>
      <p:pic>
        <p:nvPicPr>
          <p:cNvPr descr="logo_mevo_real.png" id="198" name="Google Shape;1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461" y="82296"/>
            <a:ext cx="1268730" cy="375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_mevo_volume.png" id="199" name="Google Shape;19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94" y="1110996"/>
            <a:ext cx="6105147" cy="38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7"/>
          <p:cNvSpPr txBox="1"/>
          <p:nvPr/>
        </p:nvSpPr>
        <p:spPr>
          <a:xfrm>
            <a:off x="6448133" y="1165860"/>
            <a:ext cx="2538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700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sz="1100"/>
          </a:p>
        </p:txBody>
      </p:sp>
      <p:sp>
        <p:nvSpPr>
          <p:cNvPr id="201" name="Google Shape;201;p27"/>
          <p:cNvSpPr/>
          <p:nvPr/>
        </p:nvSpPr>
        <p:spPr>
          <a:xfrm>
            <a:off x="6448133" y="1371600"/>
            <a:ext cx="2538095" cy="27432"/>
          </a:xfrm>
          <a:prstGeom prst="rect">
            <a:avLst/>
          </a:prstGeom>
          <a:solidFill>
            <a:srgbClr val="FBBC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6448133" y="162534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6585327" y="14744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Pico semanal: quinta-feira (13.071 presc.) — quarta e terça também fortes</a:t>
            </a:r>
            <a:endParaRPr sz="1100"/>
          </a:p>
        </p:txBody>
      </p:sp>
      <p:sp>
        <p:nvSpPr>
          <p:cNvPr id="204" name="Google Shape;204;p27"/>
          <p:cNvSpPr/>
          <p:nvPr/>
        </p:nvSpPr>
        <p:spPr>
          <a:xfrm>
            <a:off x="6448133" y="213969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6585327" y="198882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Pico diário às 13h — médico emite logo após consulta matinal. SLA de notificação &lt; 5 min</a:t>
            </a:r>
            <a:endParaRPr sz="1100"/>
          </a:p>
        </p:txBody>
      </p:sp>
      <p:sp>
        <p:nvSpPr>
          <p:cNvPr id="206" name="Google Shape;206;p27"/>
          <p:cNvSpPr/>
          <p:nvPr/>
        </p:nvSpPr>
        <p:spPr>
          <a:xfrm>
            <a:off x="6448133" y="265404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6585327" y="25031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Fins de semana -57% — janela ideal para re-engajar prescrições não convertidas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6310939" y="0"/>
            <a:ext cx="2833063" cy="5143500"/>
          </a:xfrm>
          <a:prstGeom prst="rect">
            <a:avLst/>
          </a:prstGeom>
          <a:solidFill>
            <a:srgbClr val="FFFA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0" y="0"/>
            <a:ext cx="9144002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0" y="0"/>
            <a:ext cx="123475" cy="1028700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0" y="1028700"/>
            <a:ext cx="9144002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260669" y="68580"/>
            <a:ext cx="685971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03  PERFIL DOS PACIENTES</a:t>
            </a:r>
            <a:endParaRPr sz="1100"/>
          </a:p>
        </p:txBody>
      </p:sp>
      <p:sp>
        <p:nvSpPr>
          <p:cNvPr id="218" name="Google Shape;218;p28"/>
          <p:cNvSpPr txBox="1"/>
          <p:nvPr/>
        </p:nvSpPr>
        <p:spPr>
          <a:xfrm>
            <a:off x="260669" y="315468"/>
            <a:ext cx="8506048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Millennials e Gen X: 57% do volume e maior conversão — Gen Z abre mas não compra</a:t>
            </a:r>
            <a:endParaRPr sz="1100"/>
          </a:p>
        </p:txBody>
      </p:sp>
      <p:pic>
        <p:nvPicPr>
          <p:cNvPr descr="logo_mevo_real.png" id="219" name="Google Shape;21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461" y="82296"/>
            <a:ext cx="1268730" cy="375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_mevo_geracoes.png" id="220" name="Google Shape;22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94" y="1110996"/>
            <a:ext cx="6105147" cy="38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6448133" y="1165860"/>
            <a:ext cx="2538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700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sz="1100"/>
          </a:p>
        </p:txBody>
      </p:sp>
      <p:sp>
        <p:nvSpPr>
          <p:cNvPr id="222" name="Google Shape;222;p28"/>
          <p:cNvSpPr/>
          <p:nvPr/>
        </p:nvSpPr>
        <p:spPr>
          <a:xfrm>
            <a:off x="6448133" y="1371600"/>
            <a:ext cx="2538095" cy="27432"/>
          </a:xfrm>
          <a:prstGeom prst="rect">
            <a:avLst/>
          </a:prstGeom>
          <a:solidFill>
            <a:srgbClr val="FED7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8"/>
          <p:cNvSpPr/>
          <p:nvPr/>
        </p:nvSpPr>
        <p:spPr>
          <a:xfrm>
            <a:off x="6448133" y="162534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6585327" y="14744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Millennials (29-44) + Gen X (45-60) = 57% das presc. e conversão 10-13%</a:t>
            </a:r>
            <a:endParaRPr sz="1100"/>
          </a:p>
        </p:txBody>
      </p:sp>
      <p:sp>
        <p:nvSpPr>
          <p:cNvPr id="225" name="Google Shape;225;p28"/>
          <p:cNvSpPr/>
          <p:nvPr/>
        </p:nvSpPr>
        <p:spPr>
          <a:xfrm>
            <a:off x="6448133" y="213969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6585327" y="198882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Gen Z (13-28): OR 57,5% — o que mais abre. Mas conversão 7,5% — não compra online</a:t>
            </a:r>
            <a:endParaRPr sz="1100"/>
          </a:p>
        </p:txBody>
      </p:sp>
      <p:sp>
        <p:nvSpPr>
          <p:cNvPr id="227" name="Google Shape;227;p28"/>
          <p:cNvSpPr/>
          <p:nvPr/>
        </p:nvSpPr>
        <p:spPr>
          <a:xfrm>
            <a:off x="6448133" y="265404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6585327" y="25031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Boomers 70+: OR 37% — comunicar ao cuidador, não ao paciente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6310939" y="0"/>
            <a:ext cx="2833063" cy="5143500"/>
          </a:xfrm>
          <a:prstGeom prst="rect">
            <a:avLst/>
          </a:prstGeom>
          <a:solidFill>
            <a:srgbClr val="FFE4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0" y="0"/>
            <a:ext cx="9144002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9"/>
          <p:cNvSpPr/>
          <p:nvPr/>
        </p:nvSpPr>
        <p:spPr>
          <a:xfrm>
            <a:off x="0" y="0"/>
            <a:ext cx="123475" cy="102870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9"/>
          <p:cNvSpPr/>
          <p:nvPr/>
        </p:nvSpPr>
        <p:spPr>
          <a:xfrm>
            <a:off x="0" y="1028700"/>
            <a:ext cx="9144002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9"/>
          <p:cNvSpPr txBox="1"/>
          <p:nvPr/>
        </p:nvSpPr>
        <p:spPr>
          <a:xfrm>
            <a:off x="260669" y="68580"/>
            <a:ext cx="685971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04  OPEN RATE</a:t>
            </a:r>
            <a:endParaRPr sz="1100"/>
          </a:p>
        </p:txBody>
      </p:sp>
      <p:sp>
        <p:nvSpPr>
          <p:cNvPr id="239" name="Google Shape;239;p29"/>
          <p:cNvSpPr txBox="1"/>
          <p:nvPr/>
        </p:nvSpPr>
        <p:spPr>
          <a:xfrm>
            <a:off x="260669" y="315468"/>
            <a:ext cx="8506048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35.135 receitas nunca acessadas — cada 1% de melhoria vale +709 pacientes alcançados</a:t>
            </a:r>
            <a:endParaRPr sz="1100"/>
          </a:p>
        </p:txBody>
      </p:sp>
      <p:pic>
        <p:nvPicPr>
          <p:cNvPr descr="logo_mevo_real.png" id="240" name="Google Shape;24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461" y="82296"/>
            <a:ext cx="1268730" cy="375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_mevo_openrate.png" id="241" name="Google Shape;24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94" y="1110996"/>
            <a:ext cx="6105147" cy="38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9"/>
          <p:cNvSpPr txBox="1"/>
          <p:nvPr/>
        </p:nvSpPr>
        <p:spPr>
          <a:xfrm>
            <a:off x="6448133" y="1165860"/>
            <a:ext cx="2538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700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sz="1100"/>
          </a:p>
        </p:txBody>
      </p:sp>
      <p:sp>
        <p:nvSpPr>
          <p:cNvPr id="243" name="Google Shape;243;p29"/>
          <p:cNvSpPr/>
          <p:nvPr/>
        </p:nvSpPr>
        <p:spPr>
          <a:xfrm>
            <a:off x="6448133" y="1371600"/>
            <a:ext cx="2538095" cy="27432"/>
          </a:xfrm>
          <a:prstGeom prst="rect">
            <a:avLst/>
          </a:prstGeom>
          <a:solidFill>
            <a:srgbClr val="FBBC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6448133" y="1625346"/>
            <a:ext cx="54878" cy="54864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9"/>
          <p:cNvSpPr txBox="1"/>
          <p:nvPr/>
        </p:nvSpPr>
        <p:spPr>
          <a:xfrm>
            <a:off x="6585327" y="14744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OR estável em ~50% há 4 meses — sinal de estagnação sem intervenção</a:t>
            </a:r>
            <a:endParaRPr sz="1100"/>
          </a:p>
        </p:txBody>
      </p:sp>
      <p:sp>
        <p:nvSpPr>
          <p:cNvPr id="246" name="Google Shape;246;p29"/>
          <p:cNvSpPr/>
          <p:nvPr/>
        </p:nvSpPr>
        <p:spPr>
          <a:xfrm>
            <a:off x="6448133" y="2139696"/>
            <a:ext cx="54878" cy="54864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9"/>
          <p:cNvSpPr txBox="1"/>
          <p:nvPr/>
        </p:nvSpPr>
        <p:spPr>
          <a:xfrm>
            <a:off x="6585327" y="198882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Cirurgia Geral: OR 71,8% (topo) — investigar o que fazem diferente</a:t>
            </a:r>
            <a:endParaRPr sz="1100"/>
          </a:p>
        </p:txBody>
      </p:sp>
      <p:sp>
        <p:nvSpPr>
          <p:cNvPr id="248" name="Google Shape;248;p29"/>
          <p:cNvSpPr/>
          <p:nvPr/>
        </p:nvSpPr>
        <p:spPr>
          <a:xfrm>
            <a:off x="6448133" y="2654046"/>
            <a:ext cx="54878" cy="54864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6585327" y="25031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Meta 90d: OR 60% via push personalizado pós-emissão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6310939" y="0"/>
            <a:ext cx="2833063" cy="5143500"/>
          </a:xfrm>
          <a:prstGeom prst="rect">
            <a:avLst/>
          </a:prstGeom>
          <a:solidFill>
            <a:srgbClr val="FFFA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0" y="0"/>
            <a:ext cx="9144002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0" y="0"/>
            <a:ext cx="123475" cy="1028700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0" y="1028700"/>
            <a:ext cx="9144002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0"/>
          <p:cNvSpPr txBox="1"/>
          <p:nvPr/>
        </p:nvSpPr>
        <p:spPr>
          <a:xfrm>
            <a:off x="260669" y="68580"/>
            <a:ext cx="685971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05  CONVERSÃO POR CANAL</a:t>
            </a:r>
            <a:endParaRPr sz="1100"/>
          </a:p>
        </p:txBody>
      </p:sp>
      <p:sp>
        <p:nvSpPr>
          <p:cNvPr id="260" name="Google Shape;260;p30"/>
          <p:cNvSpPr txBox="1"/>
          <p:nvPr/>
        </p:nvSpPr>
        <p:spPr>
          <a:xfrm>
            <a:off x="260669" y="315468"/>
            <a:ext cx="8506048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89,8% das visualizações não convertem — marketplace é o canal com maior potencial</a:t>
            </a:r>
            <a:endParaRPr sz="1100"/>
          </a:p>
        </p:txBody>
      </p:sp>
      <p:pic>
        <p:nvPicPr>
          <p:cNvPr descr="logo_mevo_real.png" id="261" name="Google Shape;2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461" y="82296"/>
            <a:ext cx="1268730" cy="375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_mevo_conversao.png" id="262" name="Google Shape;26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94" y="1110996"/>
            <a:ext cx="6105147" cy="38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 txBox="1"/>
          <p:nvPr/>
        </p:nvSpPr>
        <p:spPr>
          <a:xfrm>
            <a:off x="6448133" y="1165860"/>
            <a:ext cx="2538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700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sz="1100"/>
          </a:p>
        </p:txBody>
      </p:sp>
      <p:sp>
        <p:nvSpPr>
          <p:cNvPr id="264" name="Google Shape;264;p30"/>
          <p:cNvSpPr/>
          <p:nvPr/>
        </p:nvSpPr>
        <p:spPr>
          <a:xfrm>
            <a:off x="6448133" y="1371600"/>
            <a:ext cx="2538095" cy="27432"/>
          </a:xfrm>
          <a:prstGeom prst="rect">
            <a:avLst/>
          </a:prstGeom>
          <a:solidFill>
            <a:srgbClr val="FED7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6448133" y="162534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6585327" y="14744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Farmácia física: 84% das vendas — offline domina, mas sem rastreio digital</a:t>
            </a:r>
            <a:endParaRPr sz="1100"/>
          </a:p>
        </p:txBody>
      </p:sp>
      <p:sp>
        <p:nvSpPr>
          <p:cNvPr id="267" name="Google Shape;267;p30"/>
          <p:cNvSpPr/>
          <p:nvPr/>
        </p:nvSpPr>
        <p:spPr>
          <a:xfrm>
            <a:off x="6448133" y="213969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0"/>
          <p:cNvSpPr txBox="1"/>
          <p:nvPr/>
        </p:nvSpPr>
        <p:spPr>
          <a:xfrm>
            <a:off x="6585327" y="198882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Marketplace: 722 vendas (16%) com potencial de 5x via redução de fricção</a:t>
            </a:r>
            <a:endParaRPr sz="1100"/>
          </a:p>
        </p:txBody>
      </p:sp>
      <p:sp>
        <p:nvSpPr>
          <p:cNvPr id="269" name="Google Shape;269;p30"/>
          <p:cNvSpPr/>
          <p:nvPr/>
        </p:nvSpPr>
        <p:spPr>
          <a:xfrm>
            <a:off x="6448133" y="265404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0"/>
          <p:cNvSpPr txBox="1"/>
          <p:nvPr/>
        </p:nvSpPr>
        <p:spPr>
          <a:xfrm>
            <a:off x="6585327" y="25031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970 compras sem abertura digital — QR Code fecha esse gap e melhora o funil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1"/>
          <p:cNvSpPr/>
          <p:nvPr/>
        </p:nvSpPr>
        <p:spPr>
          <a:xfrm>
            <a:off x="6310939" y="0"/>
            <a:ext cx="2833063" cy="5143500"/>
          </a:xfrm>
          <a:prstGeom prst="rect">
            <a:avLst/>
          </a:prstGeom>
          <a:solidFill>
            <a:srgbClr val="FFE4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1"/>
          <p:cNvSpPr/>
          <p:nvPr/>
        </p:nvSpPr>
        <p:spPr>
          <a:xfrm>
            <a:off x="0" y="0"/>
            <a:ext cx="9144002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0" y="0"/>
            <a:ext cx="123475" cy="102870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0" y="1028700"/>
            <a:ext cx="9144002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1"/>
          <p:cNvSpPr txBox="1"/>
          <p:nvPr/>
        </p:nvSpPr>
        <p:spPr>
          <a:xfrm>
            <a:off x="260669" y="68580"/>
            <a:ext cx="685971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06  BASE DE MÉDICOS</a:t>
            </a:r>
            <a:endParaRPr sz="1100"/>
          </a:p>
        </p:txBody>
      </p:sp>
      <p:sp>
        <p:nvSpPr>
          <p:cNvPr id="281" name="Google Shape;281;p31"/>
          <p:cNvSpPr txBox="1"/>
          <p:nvPr/>
        </p:nvSpPr>
        <p:spPr>
          <a:xfrm>
            <a:off x="260669" y="315468"/>
            <a:ext cx="8506048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57% dos médicos de Janeiro não prescreveram em Abril — churn é o maior risco</a:t>
            </a:r>
            <a:endParaRPr sz="1100"/>
          </a:p>
        </p:txBody>
      </p:sp>
      <p:pic>
        <p:nvPicPr>
          <p:cNvPr descr="logo_mevo_real.png" id="282" name="Google Shape;28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461" y="82296"/>
            <a:ext cx="1268730" cy="375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_mevo_medicos.png" id="283" name="Google Shape;28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94" y="1110996"/>
            <a:ext cx="6105147" cy="38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/>
        </p:nvSpPr>
        <p:spPr>
          <a:xfrm>
            <a:off x="6448133" y="1165860"/>
            <a:ext cx="2538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700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sz="1100"/>
          </a:p>
        </p:txBody>
      </p:sp>
      <p:sp>
        <p:nvSpPr>
          <p:cNvPr id="285" name="Google Shape;285;p31"/>
          <p:cNvSpPr/>
          <p:nvPr/>
        </p:nvSpPr>
        <p:spPr>
          <a:xfrm>
            <a:off x="6448133" y="1371600"/>
            <a:ext cx="2538095" cy="27432"/>
          </a:xfrm>
          <a:prstGeom prst="rect">
            <a:avLst/>
          </a:prstGeom>
          <a:solidFill>
            <a:srgbClr val="FBBC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6448133" y="1625346"/>
            <a:ext cx="54878" cy="54864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1"/>
          <p:cNvSpPr txBox="1"/>
          <p:nvPr/>
        </p:nvSpPr>
        <p:spPr>
          <a:xfrm>
            <a:off x="6585327" y="14744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VIP (92 médicos): OR 61,4% e 10,7% do volume — 1 VIP perdido = 83 presc./mês a menos</a:t>
            </a:r>
            <a:endParaRPr sz="1100"/>
          </a:p>
        </p:txBody>
      </p:sp>
      <p:sp>
        <p:nvSpPr>
          <p:cNvPr id="288" name="Google Shape;288;p31"/>
          <p:cNvSpPr/>
          <p:nvPr/>
        </p:nvSpPr>
        <p:spPr>
          <a:xfrm>
            <a:off x="6448133" y="2139696"/>
            <a:ext cx="54878" cy="54864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1"/>
          <p:cNvSpPr txBox="1"/>
          <p:nvPr/>
        </p:nvSpPr>
        <p:spPr>
          <a:xfrm>
            <a:off x="6585327" y="198882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36% dos médicos geram 80% das prescrições — concentração exige programa de retenção</a:t>
            </a:r>
            <a:endParaRPr sz="1100"/>
          </a:p>
        </p:txBody>
      </p:sp>
      <p:sp>
        <p:nvSpPr>
          <p:cNvPr id="290" name="Google Shape;290;p31"/>
          <p:cNvSpPr/>
          <p:nvPr/>
        </p:nvSpPr>
        <p:spPr>
          <a:xfrm>
            <a:off x="6448133" y="2654046"/>
            <a:ext cx="54878" cy="54864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1"/>
          <p:cNvSpPr txBox="1"/>
          <p:nvPr/>
        </p:nvSpPr>
        <p:spPr>
          <a:xfrm>
            <a:off x="6585327" y="25031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Low (9.388 med.): mediana 1 mês ativo — maioria são one-timers sem onboarding efetivo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2"/>
          <p:cNvSpPr/>
          <p:nvPr/>
        </p:nvSpPr>
        <p:spPr>
          <a:xfrm>
            <a:off x="6310939" y="0"/>
            <a:ext cx="2833063" cy="5143500"/>
          </a:xfrm>
          <a:prstGeom prst="rect">
            <a:avLst/>
          </a:prstGeom>
          <a:solidFill>
            <a:srgbClr val="FFFA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2"/>
          <p:cNvSpPr/>
          <p:nvPr/>
        </p:nvSpPr>
        <p:spPr>
          <a:xfrm>
            <a:off x="0" y="0"/>
            <a:ext cx="9144002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2"/>
          <p:cNvSpPr/>
          <p:nvPr/>
        </p:nvSpPr>
        <p:spPr>
          <a:xfrm>
            <a:off x="0" y="0"/>
            <a:ext cx="123475" cy="1028700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2"/>
          <p:cNvSpPr/>
          <p:nvPr/>
        </p:nvSpPr>
        <p:spPr>
          <a:xfrm>
            <a:off x="0" y="1028700"/>
            <a:ext cx="9144002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260669" y="68580"/>
            <a:ext cx="685971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07  ESPECIALIDADES EM DESTAQUE</a:t>
            </a:r>
            <a:endParaRPr sz="1100"/>
          </a:p>
        </p:txBody>
      </p:sp>
      <p:sp>
        <p:nvSpPr>
          <p:cNvPr id="302" name="Google Shape;302;p32"/>
          <p:cNvSpPr txBox="1"/>
          <p:nvPr/>
        </p:nvSpPr>
        <p:spPr>
          <a:xfrm>
            <a:off x="260669" y="315468"/>
            <a:ext cx="8506048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Psiquiatria converte 2,3x a média — medicamentos controlados criam canal obrigatório</a:t>
            </a:r>
            <a:endParaRPr sz="1100"/>
          </a:p>
        </p:txBody>
      </p:sp>
      <p:pic>
        <p:nvPicPr>
          <p:cNvPr descr="logo_mevo_real.png" id="303" name="Google Shape;30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461" y="82296"/>
            <a:ext cx="1268730" cy="375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_mevo_especialidades.png" id="304" name="Google Shape;30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94" y="1110996"/>
            <a:ext cx="6105147" cy="38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2"/>
          <p:cNvSpPr txBox="1"/>
          <p:nvPr/>
        </p:nvSpPr>
        <p:spPr>
          <a:xfrm>
            <a:off x="6448133" y="1165860"/>
            <a:ext cx="2538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700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sz="1100"/>
          </a:p>
        </p:txBody>
      </p:sp>
      <p:sp>
        <p:nvSpPr>
          <p:cNvPr id="306" name="Google Shape;306;p32"/>
          <p:cNvSpPr/>
          <p:nvPr/>
        </p:nvSpPr>
        <p:spPr>
          <a:xfrm>
            <a:off x="6448133" y="1371600"/>
            <a:ext cx="2538095" cy="27432"/>
          </a:xfrm>
          <a:prstGeom prst="rect">
            <a:avLst/>
          </a:prstGeom>
          <a:solidFill>
            <a:srgbClr val="FED7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6448133" y="162534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2"/>
          <p:cNvSpPr txBox="1"/>
          <p:nvPr/>
        </p:nvSpPr>
        <p:spPr>
          <a:xfrm>
            <a:off x="6585327" y="14744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Psiquiatria: 23,9% de conversão (2,3x a média) — 85% são controlados = canal obrigatório</a:t>
            </a:r>
            <a:endParaRPr sz="1100"/>
          </a:p>
        </p:txBody>
      </p:sp>
      <p:sp>
        <p:nvSpPr>
          <p:cNvPr id="309" name="Google Shape;309;p32"/>
          <p:cNvSpPr/>
          <p:nvPr/>
        </p:nvSpPr>
        <p:spPr>
          <a:xfrm>
            <a:off x="6448133" y="213969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2"/>
          <p:cNvSpPr txBox="1"/>
          <p:nvPr/>
        </p:nvSpPr>
        <p:spPr>
          <a:xfrm>
            <a:off x="6585327" y="198882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Cirurgia Geral: OR 71,8% mas conv. 8,9% — paciente abre mas compra no hospital</a:t>
            </a:r>
            <a:endParaRPr sz="1100"/>
          </a:p>
        </p:txBody>
      </p:sp>
      <p:sp>
        <p:nvSpPr>
          <p:cNvPr id="311" name="Google Shape;311;p32"/>
          <p:cNvSpPr/>
          <p:nvPr/>
        </p:nvSpPr>
        <p:spPr>
          <a:xfrm>
            <a:off x="6448133" y="265404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2"/>
          <p:cNvSpPr txBox="1"/>
          <p:nvPr/>
        </p:nvSpPr>
        <p:spPr>
          <a:xfrm>
            <a:off x="6585327" y="25031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Ortopedia: conv. 13% — segundo melhor; potencial com push por tipo de procedimento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3"/>
          <p:cNvSpPr/>
          <p:nvPr/>
        </p:nvSpPr>
        <p:spPr>
          <a:xfrm>
            <a:off x="6310939" y="0"/>
            <a:ext cx="2833063" cy="5143500"/>
          </a:xfrm>
          <a:prstGeom prst="rect">
            <a:avLst/>
          </a:prstGeom>
          <a:solidFill>
            <a:srgbClr val="FFE4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3"/>
          <p:cNvSpPr/>
          <p:nvPr/>
        </p:nvSpPr>
        <p:spPr>
          <a:xfrm>
            <a:off x="0" y="0"/>
            <a:ext cx="9144002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3"/>
          <p:cNvSpPr/>
          <p:nvPr/>
        </p:nvSpPr>
        <p:spPr>
          <a:xfrm>
            <a:off x="0" y="0"/>
            <a:ext cx="123475" cy="1028700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3"/>
          <p:cNvSpPr/>
          <p:nvPr/>
        </p:nvSpPr>
        <p:spPr>
          <a:xfrm>
            <a:off x="0" y="1028700"/>
            <a:ext cx="9144002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3"/>
          <p:cNvSpPr txBox="1"/>
          <p:nvPr/>
        </p:nvSpPr>
        <p:spPr>
          <a:xfrm>
            <a:off x="260669" y="68580"/>
            <a:ext cx="685971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08  SEGMENTAÇÃO COMPORTAMENTAL</a:t>
            </a:r>
            <a:endParaRPr sz="1100"/>
          </a:p>
        </p:txBody>
      </p:sp>
      <p:sp>
        <p:nvSpPr>
          <p:cNvPr id="323" name="Google Shape;323;p33"/>
          <p:cNvSpPr txBox="1"/>
          <p:nvPr/>
        </p:nvSpPr>
        <p:spPr>
          <a:xfrm>
            <a:off x="260669" y="315468"/>
            <a:ext cx="8506048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93% das prescrições estão nos quadrantes de perda — 4 estratégias para reverter</a:t>
            </a:r>
            <a:endParaRPr sz="1100"/>
          </a:p>
        </p:txBody>
      </p:sp>
      <p:pic>
        <p:nvPicPr>
          <p:cNvPr descr="logo_mevo_real.png" id="324" name="Google Shape;32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461" y="82296"/>
            <a:ext cx="1268730" cy="375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_mevo_comportamental.png" id="325" name="Google Shape;32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94" y="1110996"/>
            <a:ext cx="6105147" cy="38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6413835" y="1200150"/>
            <a:ext cx="2572394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3"/>
          <p:cNvSpPr/>
          <p:nvPr/>
        </p:nvSpPr>
        <p:spPr>
          <a:xfrm>
            <a:off x="6413835" y="1200150"/>
            <a:ext cx="96036" cy="857250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6557889" y="1255014"/>
            <a:ext cx="233230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Inativo Digital  48%</a:t>
            </a:r>
            <a:endParaRPr sz="1100"/>
          </a:p>
        </p:txBody>
      </p:sp>
      <p:sp>
        <p:nvSpPr>
          <p:cNvPr id="329" name="Google Shape;329;p33"/>
          <p:cNvSpPr txBox="1"/>
          <p:nvPr/>
        </p:nvSpPr>
        <p:spPr>
          <a:xfrm>
            <a:off x="6557889" y="1529334"/>
            <a:ext cx="2332303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Push &lt; 5 min</a:t>
            </a:r>
            <a:b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pós-emissão</a:t>
            </a:r>
            <a:endParaRPr sz="1100"/>
          </a:p>
        </p:txBody>
      </p:sp>
      <p:sp>
        <p:nvSpPr>
          <p:cNvPr id="330" name="Google Shape;330;p33"/>
          <p:cNvSpPr/>
          <p:nvPr/>
        </p:nvSpPr>
        <p:spPr>
          <a:xfrm>
            <a:off x="6413835" y="2146554"/>
            <a:ext cx="2572394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3"/>
          <p:cNvSpPr/>
          <p:nvPr/>
        </p:nvSpPr>
        <p:spPr>
          <a:xfrm>
            <a:off x="6413835" y="2146554"/>
            <a:ext cx="96036" cy="857250"/>
          </a:xfrm>
          <a:prstGeom prst="rect">
            <a:avLst/>
          </a:prstGeom>
          <a:solidFill>
            <a:srgbClr val="ED8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6557889" y="2201418"/>
            <a:ext cx="233230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ED8936"/>
                </a:solidFill>
                <a:latin typeface="Calibri"/>
                <a:ea typeface="Calibri"/>
                <a:cs typeface="Calibri"/>
                <a:sym typeface="Calibri"/>
              </a:rPr>
              <a:t>Engajado s/ Conv. 45%</a:t>
            </a:r>
            <a:endParaRPr sz="1100"/>
          </a:p>
        </p:txBody>
      </p:sp>
      <p:sp>
        <p:nvSpPr>
          <p:cNvPr id="333" name="Google Shape;333;p33"/>
          <p:cNvSpPr txBox="1"/>
          <p:nvPr/>
        </p:nvSpPr>
        <p:spPr>
          <a:xfrm>
            <a:off x="6557889" y="2475738"/>
            <a:ext cx="2332303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Lembrete 2h</a:t>
            </a:r>
            <a:b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 24h</a:t>
            </a:r>
            <a:endParaRPr sz="1100"/>
          </a:p>
        </p:txBody>
      </p:sp>
      <p:sp>
        <p:nvSpPr>
          <p:cNvPr id="334" name="Google Shape;334;p33"/>
          <p:cNvSpPr/>
          <p:nvPr/>
        </p:nvSpPr>
        <p:spPr>
          <a:xfrm>
            <a:off x="6413835" y="3092958"/>
            <a:ext cx="2572394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6413835" y="3092958"/>
            <a:ext cx="96036" cy="857250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3"/>
          <p:cNvSpPr txBox="1"/>
          <p:nvPr/>
        </p:nvSpPr>
        <p:spPr>
          <a:xfrm>
            <a:off x="6557889" y="3147822"/>
            <a:ext cx="233230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S/ Rastreio  1%</a:t>
            </a:r>
            <a:endParaRPr sz="1100"/>
          </a:p>
        </p:txBody>
      </p:sp>
      <p:sp>
        <p:nvSpPr>
          <p:cNvPr id="337" name="Google Shape;337;p33"/>
          <p:cNvSpPr txBox="1"/>
          <p:nvPr/>
        </p:nvSpPr>
        <p:spPr>
          <a:xfrm>
            <a:off x="6557889" y="3422142"/>
            <a:ext cx="2332303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QR Code</a:t>
            </a:r>
            <a:b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na receita</a:t>
            </a:r>
            <a:endParaRPr sz="1100"/>
          </a:p>
        </p:txBody>
      </p:sp>
      <p:sp>
        <p:nvSpPr>
          <p:cNvPr id="338" name="Google Shape;338;p33"/>
          <p:cNvSpPr/>
          <p:nvPr/>
        </p:nvSpPr>
        <p:spPr>
          <a:xfrm>
            <a:off x="6413835" y="4039362"/>
            <a:ext cx="2572394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3"/>
          <p:cNvSpPr/>
          <p:nvPr/>
        </p:nvSpPr>
        <p:spPr>
          <a:xfrm>
            <a:off x="6413835" y="4039362"/>
            <a:ext cx="96036" cy="857250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3"/>
          <p:cNvSpPr txBox="1"/>
          <p:nvPr/>
        </p:nvSpPr>
        <p:spPr>
          <a:xfrm>
            <a:off x="6557889" y="4094226"/>
            <a:ext cx="233230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Convertido Digital 5%</a:t>
            </a:r>
            <a:endParaRPr sz="1100"/>
          </a:p>
        </p:txBody>
      </p:sp>
      <p:sp>
        <p:nvSpPr>
          <p:cNvPr id="341" name="Google Shape;341;p33"/>
          <p:cNvSpPr txBox="1"/>
          <p:nvPr/>
        </p:nvSpPr>
        <p:spPr>
          <a:xfrm>
            <a:off x="6557889" y="4368546"/>
            <a:ext cx="2332303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Renovação</a:t>
            </a:r>
            <a:b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automática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4"/>
          <p:cNvSpPr/>
          <p:nvPr/>
        </p:nvSpPr>
        <p:spPr>
          <a:xfrm>
            <a:off x="6310939" y="0"/>
            <a:ext cx="2833063" cy="5143500"/>
          </a:xfrm>
          <a:prstGeom prst="rect">
            <a:avLst/>
          </a:prstGeom>
          <a:solidFill>
            <a:srgbClr val="FFFA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4"/>
          <p:cNvSpPr/>
          <p:nvPr/>
        </p:nvSpPr>
        <p:spPr>
          <a:xfrm>
            <a:off x="0" y="0"/>
            <a:ext cx="9144002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0" y="0"/>
            <a:ext cx="123475" cy="1028700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4"/>
          <p:cNvSpPr/>
          <p:nvPr/>
        </p:nvSpPr>
        <p:spPr>
          <a:xfrm>
            <a:off x="0" y="1028700"/>
            <a:ext cx="9144002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4"/>
          <p:cNvSpPr txBox="1"/>
          <p:nvPr/>
        </p:nvSpPr>
        <p:spPr>
          <a:xfrm>
            <a:off x="260669" y="68580"/>
            <a:ext cx="685971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09  INTELIGÊNCIA GEOGRÁFICA</a:t>
            </a:r>
            <a:endParaRPr sz="1100"/>
          </a:p>
        </p:txBody>
      </p:sp>
      <p:sp>
        <p:nvSpPr>
          <p:cNvPr id="352" name="Google Shape;352;p34"/>
          <p:cNvSpPr txBox="1"/>
          <p:nvPr/>
        </p:nvSpPr>
        <p:spPr>
          <a:xfrm>
            <a:off x="260669" y="315468"/>
            <a:ext cx="8506048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RJ e DF: alta abertura, baixa conversão — SC e RS são os modelos a replicar</a:t>
            </a:r>
            <a:endParaRPr sz="1100"/>
          </a:p>
        </p:txBody>
      </p:sp>
      <p:pic>
        <p:nvPicPr>
          <p:cNvPr descr="logo_mevo_real.png" id="353" name="Google Shape;35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461" y="82296"/>
            <a:ext cx="1268730" cy="3752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_mevo_estados.png" id="354" name="Google Shape;35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94" y="1110996"/>
            <a:ext cx="6105147" cy="38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4"/>
          <p:cNvSpPr txBox="1"/>
          <p:nvPr/>
        </p:nvSpPr>
        <p:spPr>
          <a:xfrm>
            <a:off x="6448133" y="1165860"/>
            <a:ext cx="25380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700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sz="1100"/>
          </a:p>
        </p:txBody>
      </p:sp>
      <p:sp>
        <p:nvSpPr>
          <p:cNvPr id="356" name="Google Shape;356;p34"/>
          <p:cNvSpPr/>
          <p:nvPr/>
        </p:nvSpPr>
        <p:spPr>
          <a:xfrm>
            <a:off x="6448133" y="1371600"/>
            <a:ext cx="2538095" cy="27432"/>
          </a:xfrm>
          <a:prstGeom prst="rect">
            <a:avLst/>
          </a:prstGeom>
          <a:solidFill>
            <a:srgbClr val="FED7E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6448133" y="162534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4"/>
          <p:cNvSpPr txBox="1"/>
          <p:nvPr/>
        </p:nvSpPr>
        <p:spPr>
          <a:xfrm>
            <a:off x="6585327" y="14744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SC: OR 61,5% + conv 12,7% — melhor combinação do país. Replicar modelo</a:t>
            </a:r>
            <a:endParaRPr sz="1100"/>
          </a:p>
        </p:txBody>
      </p:sp>
      <p:sp>
        <p:nvSpPr>
          <p:cNvPr id="359" name="Google Shape;359;p34"/>
          <p:cNvSpPr/>
          <p:nvPr/>
        </p:nvSpPr>
        <p:spPr>
          <a:xfrm>
            <a:off x="6448133" y="213969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4"/>
          <p:cNvSpPr txBox="1"/>
          <p:nvPr/>
        </p:nvSpPr>
        <p:spPr>
          <a:xfrm>
            <a:off x="6585327" y="198882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RS: conversão 14,9% (topo nacional) — investigar o que gera mais compra</a:t>
            </a:r>
            <a:endParaRPr sz="1100"/>
          </a:p>
        </p:txBody>
      </p:sp>
      <p:sp>
        <p:nvSpPr>
          <p:cNvPr id="361" name="Google Shape;361;p34"/>
          <p:cNvSpPr/>
          <p:nvPr/>
        </p:nvSpPr>
        <p:spPr>
          <a:xfrm>
            <a:off x="6448133" y="2654046"/>
            <a:ext cx="54878" cy="54864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6585327" y="2503170"/>
            <a:ext cx="2400901" cy="466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RJ: OR 54,7% mas conv 3,8% — anomalia crítica. Investigar estoque e preço local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FE4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5"/>
          <p:cNvSpPr/>
          <p:nvPr/>
        </p:nvSpPr>
        <p:spPr>
          <a:xfrm>
            <a:off x="8115044" y="4114800"/>
            <a:ext cx="1028957" cy="1028700"/>
          </a:xfrm>
          <a:prstGeom prst="rect">
            <a:avLst/>
          </a:prstGeom>
          <a:solidFill>
            <a:srgbClr val="FBBC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5"/>
          <p:cNvSpPr/>
          <p:nvPr/>
        </p:nvSpPr>
        <p:spPr>
          <a:xfrm>
            <a:off x="8595224" y="4594860"/>
            <a:ext cx="548777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5"/>
          <p:cNvSpPr/>
          <p:nvPr/>
        </p:nvSpPr>
        <p:spPr>
          <a:xfrm>
            <a:off x="0" y="0"/>
            <a:ext cx="9144002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5"/>
          <p:cNvSpPr/>
          <p:nvPr/>
        </p:nvSpPr>
        <p:spPr>
          <a:xfrm>
            <a:off x="0" y="0"/>
            <a:ext cx="123475" cy="1028700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5"/>
          <p:cNvSpPr/>
          <p:nvPr/>
        </p:nvSpPr>
        <p:spPr>
          <a:xfrm>
            <a:off x="0" y="1028700"/>
            <a:ext cx="9144002" cy="27432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5"/>
          <p:cNvSpPr txBox="1"/>
          <p:nvPr/>
        </p:nvSpPr>
        <p:spPr>
          <a:xfrm>
            <a:off x="260669" y="68580"/>
            <a:ext cx="685971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10  PLANOS DE AÇÃO SEGMENTADOS</a:t>
            </a:r>
            <a:endParaRPr sz="1100"/>
          </a:p>
        </p:txBody>
      </p:sp>
      <p:sp>
        <p:nvSpPr>
          <p:cNvPr id="374" name="Google Shape;374;p35"/>
          <p:cNvSpPr txBox="1"/>
          <p:nvPr/>
        </p:nvSpPr>
        <p:spPr>
          <a:xfrm>
            <a:off x="260669" y="315468"/>
            <a:ext cx="8506048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7 iniciativas com segmento, ação e meta — priorizadas por impacto</a:t>
            </a:r>
            <a:endParaRPr sz="1100"/>
          </a:p>
        </p:txBody>
      </p:sp>
      <p:pic>
        <p:nvPicPr>
          <p:cNvPr descr="logo_mevo_real.png" id="375" name="Google Shape;37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3461" y="82296"/>
            <a:ext cx="1268730" cy="37525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5"/>
          <p:cNvSpPr/>
          <p:nvPr/>
        </p:nvSpPr>
        <p:spPr>
          <a:xfrm>
            <a:off x="137194" y="1097280"/>
            <a:ext cx="1248468" cy="301752"/>
          </a:xfrm>
          <a:prstGeom prst="rect">
            <a:avLst/>
          </a:prstGeom>
          <a:solidFill>
            <a:srgbClr val="E53E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5"/>
          <p:cNvSpPr txBox="1"/>
          <p:nvPr/>
        </p:nvSpPr>
        <p:spPr>
          <a:xfrm>
            <a:off x="137194" y="1097280"/>
            <a:ext cx="1248468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Inativo</a:t>
            </a:r>
            <a:b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</a:t>
            </a:r>
            <a:endParaRPr sz="1100"/>
          </a:p>
        </p:txBody>
      </p:sp>
      <p:sp>
        <p:nvSpPr>
          <p:cNvPr id="378" name="Google Shape;378;p35"/>
          <p:cNvSpPr/>
          <p:nvPr/>
        </p:nvSpPr>
        <p:spPr>
          <a:xfrm>
            <a:off x="137194" y="1399032"/>
            <a:ext cx="1248468" cy="137845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5"/>
          <p:cNvSpPr txBox="1"/>
          <p:nvPr/>
        </p:nvSpPr>
        <p:spPr>
          <a:xfrm>
            <a:off x="205791" y="1440180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endParaRPr sz="1100"/>
          </a:p>
        </p:txBody>
      </p:sp>
      <p:sp>
        <p:nvSpPr>
          <p:cNvPr id="380" name="Google Shape;380;p35"/>
          <p:cNvSpPr txBox="1"/>
          <p:nvPr/>
        </p:nvSpPr>
        <p:spPr>
          <a:xfrm>
            <a:off x="205791" y="1604772"/>
            <a:ext cx="116615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Push/SMS &lt; 5 min</a:t>
            </a:r>
            <a:b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pós-emissão</a:t>
            </a:r>
            <a:endParaRPr sz="1100"/>
          </a:p>
        </p:txBody>
      </p:sp>
      <p:sp>
        <p:nvSpPr>
          <p:cNvPr id="381" name="Google Shape;381;p35"/>
          <p:cNvSpPr txBox="1"/>
          <p:nvPr/>
        </p:nvSpPr>
        <p:spPr>
          <a:xfrm>
            <a:off x="205791" y="2249424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E53E3E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sz="1100"/>
          </a:p>
        </p:txBody>
      </p:sp>
      <p:sp>
        <p:nvSpPr>
          <p:cNvPr id="382" name="Google Shape;382;p35"/>
          <p:cNvSpPr txBox="1"/>
          <p:nvPr/>
        </p:nvSpPr>
        <p:spPr>
          <a:xfrm>
            <a:off x="205791" y="2414016"/>
            <a:ext cx="11661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Meta:</a:t>
            </a:r>
            <a:b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OR → 60%</a:t>
            </a:r>
            <a:endParaRPr sz="1100"/>
          </a:p>
        </p:txBody>
      </p:sp>
      <p:sp>
        <p:nvSpPr>
          <p:cNvPr id="383" name="Google Shape;383;p35"/>
          <p:cNvSpPr/>
          <p:nvPr/>
        </p:nvSpPr>
        <p:spPr>
          <a:xfrm>
            <a:off x="1423391" y="1097280"/>
            <a:ext cx="1248468" cy="301752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5"/>
          <p:cNvSpPr txBox="1"/>
          <p:nvPr/>
        </p:nvSpPr>
        <p:spPr>
          <a:xfrm>
            <a:off x="1423391" y="1097280"/>
            <a:ext cx="1248468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Médicos VIP</a:t>
            </a:r>
            <a:b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(92)</a:t>
            </a:r>
            <a:endParaRPr sz="1100"/>
          </a:p>
        </p:txBody>
      </p:sp>
      <p:sp>
        <p:nvSpPr>
          <p:cNvPr id="385" name="Google Shape;385;p35"/>
          <p:cNvSpPr/>
          <p:nvPr/>
        </p:nvSpPr>
        <p:spPr>
          <a:xfrm>
            <a:off x="1423391" y="1399032"/>
            <a:ext cx="1248468" cy="137845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5"/>
          <p:cNvSpPr txBox="1"/>
          <p:nvPr/>
        </p:nvSpPr>
        <p:spPr>
          <a:xfrm>
            <a:off x="1491988" y="1440180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endParaRPr sz="1100"/>
          </a:p>
        </p:txBody>
      </p:sp>
      <p:sp>
        <p:nvSpPr>
          <p:cNvPr id="387" name="Google Shape;387;p35"/>
          <p:cNvSpPr txBox="1"/>
          <p:nvPr/>
        </p:nvSpPr>
        <p:spPr>
          <a:xfrm>
            <a:off x="1491988" y="1604772"/>
            <a:ext cx="116615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Programa dedicado</a:t>
            </a:r>
            <a:b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NPS mensal</a:t>
            </a:r>
            <a:endParaRPr sz="1100"/>
          </a:p>
        </p:txBody>
      </p:sp>
      <p:sp>
        <p:nvSpPr>
          <p:cNvPr id="388" name="Google Shape;388;p35"/>
          <p:cNvSpPr txBox="1"/>
          <p:nvPr/>
        </p:nvSpPr>
        <p:spPr>
          <a:xfrm>
            <a:off x="1491988" y="2249424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sz="1100"/>
          </a:p>
        </p:txBody>
      </p:sp>
      <p:sp>
        <p:nvSpPr>
          <p:cNvPr id="389" name="Google Shape;389;p35"/>
          <p:cNvSpPr txBox="1"/>
          <p:nvPr/>
        </p:nvSpPr>
        <p:spPr>
          <a:xfrm>
            <a:off x="1491988" y="2414016"/>
            <a:ext cx="11661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Meta:</a:t>
            </a:r>
            <a:b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Churn → 0%</a:t>
            </a:r>
            <a:endParaRPr sz="1100"/>
          </a:p>
        </p:txBody>
      </p:sp>
      <p:sp>
        <p:nvSpPr>
          <p:cNvPr id="390" name="Google Shape;390;p35"/>
          <p:cNvSpPr/>
          <p:nvPr/>
        </p:nvSpPr>
        <p:spPr>
          <a:xfrm>
            <a:off x="2709588" y="1097280"/>
            <a:ext cx="1248468" cy="301752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5"/>
          <p:cNvSpPr txBox="1"/>
          <p:nvPr/>
        </p:nvSpPr>
        <p:spPr>
          <a:xfrm>
            <a:off x="2709588" y="1097280"/>
            <a:ext cx="1248468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Market-</a:t>
            </a:r>
            <a:b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place</a:t>
            </a:r>
            <a:endParaRPr sz="1100"/>
          </a:p>
        </p:txBody>
      </p:sp>
      <p:sp>
        <p:nvSpPr>
          <p:cNvPr id="392" name="Google Shape;392;p35"/>
          <p:cNvSpPr/>
          <p:nvPr/>
        </p:nvSpPr>
        <p:spPr>
          <a:xfrm>
            <a:off x="2709588" y="1399032"/>
            <a:ext cx="1248468" cy="137845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5"/>
          <p:cNvSpPr txBox="1"/>
          <p:nvPr/>
        </p:nvSpPr>
        <p:spPr>
          <a:xfrm>
            <a:off x="2778185" y="1440180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endParaRPr sz="1100"/>
          </a:p>
        </p:txBody>
      </p:sp>
      <p:sp>
        <p:nvSpPr>
          <p:cNvPr id="394" name="Google Shape;394;p35"/>
          <p:cNvSpPr txBox="1"/>
          <p:nvPr/>
        </p:nvSpPr>
        <p:spPr>
          <a:xfrm>
            <a:off x="2778185" y="1604772"/>
            <a:ext cx="116615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Desconto 1ª</a:t>
            </a:r>
            <a:b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compra digital</a:t>
            </a:r>
            <a:endParaRPr sz="1100"/>
          </a:p>
        </p:txBody>
      </p:sp>
      <p:sp>
        <p:nvSpPr>
          <p:cNvPr id="395" name="Google Shape;395;p35"/>
          <p:cNvSpPr txBox="1"/>
          <p:nvPr/>
        </p:nvSpPr>
        <p:spPr>
          <a:xfrm>
            <a:off x="2778185" y="2249424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sz="1100"/>
          </a:p>
        </p:txBody>
      </p:sp>
      <p:sp>
        <p:nvSpPr>
          <p:cNvPr id="396" name="Google Shape;396;p35"/>
          <p:cNvSpPr txBox="1"/>
          <p:nvPr/>
        </p:nvSpPr>
        <p:spPr>
          <a:xfrm>
            <a:off x="2778185" y="2414016"/>
            <a:ext cx="11661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Meta:</a:t>
            </a:r>
            <a:b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20% do mix</a:t>
            </a:r>
            <a:endParaRPr sz="1100"/>
          </a:p>
        </p:txBody>
      </p:sp>
      <p:sp>
        <p:nvSpPr>
          <p:cNvPr id="397" name="Google Shape;397;p35"/>
          <p:cNvSpPr/>
          <p:nvPr/>
        </p:nvSpPr>
        <p:spPr>
          <a:xfrm>
            <a:off x="3995785" y="1097280"/>
            <a:ext cx="1248468" cy="301752"/>
          </a:xfrm>
          <a:prstGeom prst="rect">
            <a:avLst/>
          </a:prstGeom>
          <a:solidFill>
            <a:srgbClr val="ED8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5"/>
          <p:cNvSpPr txBox="1"/>
          <p:nvPr/>
        </p:nvSpPr>
        <p:spPr>
          <a:xfrm>
            <a:off x="3995785" y="1097280"/>
            <a:ext cx="1248468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Engajado</a:t>
            </a:r>
            <a:b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s/ Conv.</a:t>
            </a:r>
            <a:endParaRPr sz="1100"/>
          </a:p>
        </p:txBody>
      </p:sp>
      <p:sp>
        <p:nvSpPr>
          <p:cNvPr id="399" name="Google Shape;399;p35"/>
          <p:cNvSpPr/>
          <p:nvPr/>
        </p:nvSpPr>
        <p:spPr>
          <a:xfrm>
            <a:off x="3995785" y="1399032"/>
            <a:ext cx="1248468" cy="137845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5"/>
          <p:cNvSpPr txBox="1"/>
          <p:nvPr/>
        </p:nvSpPr>
        <p:spPr>
          <a:xfrm>
            <a:off x="4064382" y="1440180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ED8936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endParaRPr sz="1100"/>
          </a:p>
        </p:txBody>
      </p:sp>
      <p:sp>
        <p:nvSpPr>
          <p:cNvPr id="401" name="Google Shape;401;p35"/>
          <p:cNvSpPr txBox="1"/>
          <p:nvPr/>
        </p:nvSpPr>
        <p:spPr>
          <a:xfrm>
            <a:off x="4064382" y="1604772"/>
            <a:ext cx="116615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Lembrete</a:t>
            </a:r>
            <a:b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2h e 24h</a:t>
            </a:r>
            <a:endParaRPr sz="1100"/>
          </a:p>
        </p:txBody>
      </p:sp>
      <p:sp>
        <p:nvSpPr>
          <p:cNvPr id="402" name="Google Shape;402;p35"/>
          <p:cNvSpPr txBox="1"/>
          <p:nvPr/>
        </p:nvSpPr>
        <p:spPr>
          <a:xfrm>
            <a:off x="4064382" y="2249424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ED8936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sz="1100"/>
          </a:p>
        </p:txBody>
      </p:sp>
      <p:sp>
        <p:nvSpPr>
          <p:cNvPr id="403" name="Google Shape;403;p35"/>
          <p:cNvSpPr txBox="1"/>
          <p:nvPr/>
        </p:nvSpPr>
        <p:spPr>
          <a:xfrm>
            <a:off x="4064382" y="2414016"/>
            <a:ext cx="11661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Meta:</a:t>
            </a:r>
            <a:b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Conv → 13%</a:t>
            </a:r>
            <a:endParaRPr sz="1100"/>
          </a:p>
        </p:txBody>
      </p:sp>
      <p:sp>
        <p:nvSpPr>
          <p:cNvPr id="404" name="Google Shape;404;p35"/>
          <p:cNvSpPr/>
          <p:nvPr/>
        </p:nvSpPr>
        <p:spPr>
          <a:xfrm>
            <a:off x="5281981" y="1097280"/>
            <a:ext cx="1248468" cy="301752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5"/>
          <p:cNvSpPr txBox="1"/>
          <p:nvPr/>
        </p:nvSpPr>
        <p:spPr>
          <a:xfrm>
            <a:off x="5281981" y="1097280"/>
            <a:ext cx="1248468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Psiquia-</a:t>
            </a:r>
            <a:b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tria</a:t>
            </a:r>
            <a:endParaRPr sz="1100"/>
          </a:p>
        </p:txBody>
      </p:sp>
      <p:sp>
        <p:nvSpPr>
          <p:cNvPr id="406" name="Google Shape;406;p35"/>
          <p:cNvSpPr/>
          <p:nvPr/>
        </p:nvSpPr>
        <p:spPr>
          <a:xfrm>
            <a:off x="5281981" y="1399032"/>
            <a:ext cx="1248468" cy="137845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 txBox="1"/>
          <p:nvPr/>
        </p:nvSpPr>
        <p:spPr>
          <a:xfrm>
            <a:off x="5350579" y="1440180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endParaRPr sz="1100"/>
          </a:p>
        </p:txBody>
      </p:sp>
      <p:sp>
        <p:nvSpPr>
          <p:cNvPr id="408" name="Google Shape;408;p35"/>
          <p:cNvSpPr txBox="1"/>
          <p:nvPr/>
        </p:nvSpPr>
        <p:spPr>
          <a:xfrm>
            <a:off x="5350579" y="1604772"/>
            <a:ext cx="116615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Parceria distrib.</a:t>
            </a:r>
            <a:b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controlados</a:t>
            </a:r>
            <a:endParaRPr sz="1100"/>
          </a:p>
        </p:txBody>
      </p:sp>
      <p:sp>
        <p:nvSpPr>
          <p:cNvPr id="409" name="Google Shape;409;p35"/>
          <p:cNvSpPr txBox="1"/>
          <p:nvPr/>
        </p:nvSpPr>
        <p:spPr>
          <a:xfrm>
            <a:off x="5350579" y="2249424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sz="1100"/>
          </a:p>
        </p:txBody>
      </p:sp>
      <p:sp>
        <p:nvSpPr>
          <p:cNvPr id="410" name="Google Shape;410;p35"/>
          <p:cNvSpPr txBox="1"/>
          <p:nvPr/>
        </p:nvSpPr>
        <p:spPr>
          <a:xfrm>
            <a:off x="5350579" y="2414016"/>
            <a:ext cx="11661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Meta:</a:t>
            </a:r>
            <a:b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Conv → 30%</a:t>
            </a:r>
            <a:endParaRPr sz="1100"/>
          </a:p>
        </p:txBody>
      </p:sp>
      <p:sp>
        <p:nvSpPr>
          <p:cNvPr id="411" name="Google Shape;411;p35"/>
          <p:cNvSpPr/>
          <p:nvPr/>
        </p:nvSpPr>
        <p:spPr>
          <a:xfrm>
            <a:off x="6568178" y="1097280"/>
            <a:ext cx="1248468" cy="301752"/>
          </a:xfrm>
          <a:prstGeom prst="rect">
            <a:avLst/>
          </a:prstGeom>
          <a:solidFill>
            <a:srgbClr val="71809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6568178" y="1097280"/>
            <a:ext cx="1248468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RJ —</a:t>
            </a:r>
            <a:b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Anomalia</a:t>
            </a:r>
            <a:endParaRPr sz="1100"/>
          </a:p>
        </p:txBody>
      </p:sp>
      <p:sp>
        <p:nvSpPr>
          <p:cNvPr id="413" name="Google Shape;413;p35"/>
          <p:cNvSpPr/>
          <p:nvPr/>
        </p:nvSpPr>
        <p:spPr>
          <a:xfrm>
            <a:off x="6568178" y="1399032"/>
            <a:ext cx="1248468" cy="137845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 txBox="1"/>
          <p:nvPr/>
        </p:nvSpPr>
        <p:spPr>
          <a:xfrm>
            <a:off x="6636775" y="1440180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endParaRPr sz="1100"/>
          </a:p>
        </p:txBody>
      </p:sp>
      <p:sp>
        <p:nvSpPr>
          <p:cNvPr id="415" name="Google Shape;415;p35"/>
          <p:cNvSpPr txBox="1"/>
          <p:nvPr/>
        </p:nvSpPr>
        <p:spPr>
          <a:xfrm>
            <a:off x="6636775" y="1604772"/>
            <a:ext cx="116615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Diagnóstico:</a:t>
            </a:r>
            <a:b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estoque + UX</a:t>
            </a:r>
            <a:endParaRPr sz="1100"/>
          </a:p>
        </p:txBody>
      </p:sp>
      <p:sp>
        <p:nvSpPr>
          <p:cNvPr id="416" name="Google Shape;416;p35"/>
          <p:cNvSpPr txBox="1"/>
          <p:nvPr/>
        </p:nvSpPr>
        <p:spPr>
          <a:xfrm>
            <a:off x="6636775" y="2249424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sz="1100"/>
          </a:p>
        </p:txBody>
      </p:sp>
      <p:sp>
        <p:nvSpPr>
          <p:cNvPr id="417" name="Google Shape;417;p35"/>
          <p:cNvSpPr txBox="1"/>
          <p:nvPr/>
        </p:nvSpPr>
        <p:spPr>
          <a:xfrm>
            <a:off x="6636775" y="2414016"/>
            <a:ext cx="11661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Meta:</a:t>
            </a:r>
            <a:b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Conv → 8%</a:t>
            </a:r>
            <a:endParaRPr sz="1100"/>
          </a:p>
        </p:txBody>
      </p:sp>
      <p:sp>
        <p:nvSpPr>
          <p:cNvPr id="418" name="Google Shape;418;p35"/>
          <p:cNvSpPr/>
          <p:nvPr/>
        </p:nvSpPr>
        <p:spPr>
          <a:xfrm>
            <a:off x="7854375" y="1097280"/>
            <a:ext cx="1248468" cy="301752"/>
          </a:xfrm>
          <a:prstGeom prst="rect">
            <a:avLst/>
          </a:prstGeom>
          <a:solidFill>
            <a:srgbClr val="F687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7854375" y="1097280"/>
            <a:ext cx="1248468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Crônicos</a:t>
            </a:r>
            <a:b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(2,9%)</a:t>
            </a:r>
            <a:endParaRPr sz="1100"/>
          </a:p>
        </p:txBody>
      </p:sp>
      <p:sp>
        <p:nvSpPr>
          <p:cNvPr id="420" name="Google Shape;420;p35"/>
          <p:cNvSpPr/>
          <p:nvPr/>
        </p:nvSpPr>
        <p:spPr>
          <a:xfrm>
            <a:off x="7854375" y="1399032"/>
            <a:ext cx="1248468" cy="137845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5"/>
          <p:cNvSpPr txBox="1"/>
          <p:nvPr/>
        </p:nvSpPr>
        <p:spPr>
          <a:xfrm>
            <a:off x="7922972" y="1440180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687B3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endParaRPr sz="1100"/>
          </a:p>
        </p:txBody>
      </p:sp>
      <p:sp>
        <p:nvSpPr>
          <p:cNvPr id="422" name="Google Shape;422;p35"/>
          <p:cNvSpPr txBox="1"/>
          <p:nvPr/>
        </p:nvSpPr>
        <p:spPr>
          <a:xfrm>
            <a:off x="7922972" y="1604772"/>
            <a:ext cx="1166152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Renovação</a:t>
            </a:r>
            <a:b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pt-BR" sz="8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automática</a:t>
            </a:r>
            <a:endParaRPr sz="1100"/>
          </a:p>
        </p:txBody>
      </p:sp>
      <p:sp>
        <p:nvSpPr>
          <p:cNvPr id="423" name="Google Shape;423;p35"/>
          <p:cNvSpPr txBox="1"/>
          <p:nvPr/>
        </p:nvSpPr>
        <p:spPr>
          <a:xfrm>
            <a:off x="7922972" y="2249424"/>
            <a:ext cx="1166152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600" u="none" cap="none" strike="noStrike">
                <a:solidFill>
                  <a:srgbClr val="F687B3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sz="1100"/>
          </a:p>
        </p:txBody>
      </p:sp>
      <p:sp>
        <p:nvSpPr>
          <p:cNvPr id="424" name="Google Shape;424;p35"/>
          <p:cNvSpPr txBox="1"/>
          <p:nvPr/>
        </p:nvSpPr>
        <p:spPr>
          <a:xfrm>
            <a:off x="7922972" y="2414016"/>
            <a:ext cx="11661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Meta:</a:t>
            </a:r>
            <a:b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9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LTV +40%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6"/>
          <p:cNvSpPr/>
          <p:nvPr/>
        </p:nvSpPr>
        <p:spPr>
          <a:xfrm>
            <a:off x="0" y="0"/>
            <a:ext cx="9144002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0" y="0"/>
            <a:ext cx="3086872" cy="5143500"/>
          </a:xfrm>
          <a:prstGeom prst="rect">
            <a:avLst/>
          </a:prstGeom>
          <a:solidFill>
            <a:srgbClr val="38126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0" y="0"/>
            <a:ext cx="123475" cy="5143500"/>
          </a:xfrm>
          <a:prstGeom prst="rect">
            <a:avLst/>
          </a:prstGeom>
          <a:solidFill>
            <a:srgbClr val="F687B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mevo_branca_real.png" id="432" name="Google Shape;43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90" y="150876"/>
            <a:ext cx="2125980" cy="628811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6"/>
          <p:cNvSpPr txBox="1"/>
          <p:nvPr/>
        </p:nvSpPr>
        <p:spPr>
          <a:xfrm>
            <a:off x="240078" y="63026"/>
            <a:ext cx="260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687B3"/>
                </a:solidFill>
                <a:latin typeface="Calibri"/>
                <a:ea typeface="Calibri"/>
                <a:cs typeface="Calibri"/>
                <a:sym typeface="Calibri"/>
              </a:rPr>
              <a:t>11  PDCA</a:t>
            </a:r>
            <a:endParaRPr sz="1100"/>
          </a:p>
        </p:txBody>
      </p:sp>
      <p:sp>
        <p:nvSpPr>
          <p:cNvPr id="434" name="Google Shape;434;p36"/>
          <p:cNvSpPr txBox="1"/>
          <p:nvPr/>
        </p:nvSpPr>
        <p:spPr>
          <a:xfrm>
            <a:off x="240090" y="720090"/>
            <a:ext cx="2606692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Ciclo de</a:t>
            </a:r>
            <a:b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Melhoria</a:t>
            </a:r>
            <a:b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Continua</a:t>
            </a:r>
            <a:endParaRPr sz="1100"/>
          </a:p>
        </p:txBody>
      </p:sp>
      <p:sp>
        <p:nvSpPr>
          <p:cNvPr id="435" name="Google Shape;435;p36"/>
          <p:cNvSpPr/>
          <p:nvPr/>
        </p:nvSpPr>
        <p:spPr>
          <a:xfrm>
            <a:off x="240090" y="1714500"/>
            <a:ext cx="2606692" cy="27432"/>
          </a:xfrm>
          <a:prstGeom prst="rect">
            <a:avLst/>
          </a:prstGeom>
          <a:solidFill>
            <a:srgbClr val="FBBC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240090" y="1817370"/>
            <a:ext cx="356705" cy="356616"/>
          </a:xfrm>
          <a:prstGeom prst="rect">
            <a:avLst/>
          </a:prstGeom>
          <a:solidFill>
            <a:srgbClr val="FBBC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6"/>
          <p:cNvSpPr txBox="1"/>
          <p:nvPr/>
        </p:nvSpPr>
        <p:spPr>
          <a:xfrm>
            <a:off x="240090" y="1817370"/>
            <a:ext cx="356705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1100"/>
          </a:p>
        </p:txBody>
      </p:sp>
      <p:sp>
        <p:nvSpPr>
          <p:cNvPr id="438" name="Google Shape;438;p36"/>
          <p:cNvSpPr txBox="1"/>
          <p:nvPr/>
        </p:nvSpPr>
        <p:spPr>
          <a:xfrm>
            <a:off x="685972" y="1817370"/>
            <a:ext cx="21951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687B3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1100"/>
          </a:p>
        </p:txBody>
      </p:sp>
      <p:sp>
        <p:nvSpPr>
          <p:cNvPr id="439" name="Google Shape;439;p36"/>
          <p:cNvSpPr txBox="1"/>
          <p:nvPr/>
        </p:nvSpPr>
        <p:spPr>
          <a:xfrm>
            <a:off x="685972" y="2009394"/>
            <a:ext cx="2263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OR: 60%  |  Conv: 13%  |  Churn </a:t>
            </a:r>
            <a:r>
              <a:rPr lang="pt-BR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médicos</a:t>
            </a:r>
            <a:r>
              <a:rPr b="0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&lt;30%</a:t>
            </a:r>
            <a:endParaRPr sz="1200"/>
          </a:p>
        </p:txBody>
      </p:sp>
      <p:sp>
        <p:nvSpPr>
          <p:cNvPr id="440" name="Google Shape;440;p36"/>
          <p:cNvSpPr/>
          <p:nvPr/>
        </p:nvSpPr>
        <p:spPr>
          <a:xfrm>
            <a:off x="240090" y="2612898"/>
            <a:ext cx="356705" cy="356616"/>
          </a:xfrm>
          <a:prstGeom prst="rect">
            <a:avLst/>
          </a:prstGeom>
          <a:solidFill>
            <a:srgbClr val="FBBC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6"/>
          <p:cNvSpPr txBox="1"/>
          <p:nvPr/>
        </p:nvSpPr>
        <p:spPr>
          <a:xfrm>
            <a:off x="240090" y="2612898"/>
            <a:ext cx="356705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100"/>
          </a:p>
        </p:txBody>
      </p:sp>
      <p:sp>
        <p:nvSpPr>
          <p:cNvPr id="442" name="Google Shape;442;p36"/>
          <p:cNvSpPr txBox="1"/>
          <p:nvPr/>
        </p:nvSpPr>
        <p:spPr>
          <a:xfrm>
            <a:off x="685972" y="2612898"/>
            <a:ext cx="21951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687B3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sz="1100"/>
          </a:p>
        </p:txBody>
      </p:sp>
      <p:sp>
        <p:nvSpPr>
          <p:cNvPr id="443" name="Google Shape;443;p36"/>
          <p:cNvSpPr txBox="1"/>
          <p:nvPr/>
        </p:nvSpPr>
        <p:spPr>
          <a:xfrm>
            <a:off x="685975" y="2804925"/>
            <a:ext cx="2344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Push &lt;</a:t>
            </a:r>
            <a:r>
              <a:rPr lang="pt-BR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min  |  VIP program  |  Desconto marketplace  |  QR Code</a:t>
            </a:r>
            <a:endParaRPr sz="1200"/>
          </a:p>
        </p:txBody>
      </p:sp>
      <p:sp>
        <p:nvSpPr>
          <p:cNvPr id="444" name="Google Shape;444;p36"/>
          <p:cNvSpPr/>
          <p:nvPr/>
        </p:nvSpPr>
        <p:spPr>
          <a:xfrm>
            <a:off x="240090" y="3408426"/>
            <a:ext cx="356705" cy="356616"/>
          </a:xfrm>
          <a:prstGeom prst="rect">
            <a:avLst/>
          </a:prstGeom>
          <a:solidFill>
            <a:srgbClr val="FBBC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6"/>
          <p:cNvSpPr txBox="1"/>
          <p:nvPr/>
        </p:nvSpPr>
        <p:spPr>
          <a:xfrm>
            <a:off x="240090" y="3408426"/>
            <a:ext cx="356705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100"/>
          </a:p>
        </p:txBody>
      </p:sp>
      <p:sp>
        <p:nvSpPr>
          <p:cNvPr id="446" name="Google Shape;446;p36"/>
          <p:cNvSpPr txBox="1"/>
          <p:nvPr/>
        </p:nvSpPr>
        <p:spPr>
          <a:xfrm>
            <a:off x="685972" y="3408426"/>
            <a:ext cx="21951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687B3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sz="1100"/>
          </a:p>
        </p:txBody>
      </p:sp>
      <p:sp>
        <p:nvSpPr>
          <p:cNvPr id="447" name="Google Shape;447;p36"/>
          <p:cNvSpPr txBox="1"/>
          <p:nvPr/>
        </p:nvSpPr>
        <p:spPr>
          <a:xfrm>
            <a:off x="685972" y="3600450"/>
            <a:ext cx="2263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 e </a:t>
            </a:r>
            <a:r>
              <a:rPr lang="pt-BR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conversão</a:t>
            </a:r>
            <a:r>
              <a:rPr b="0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por especialidade  |  Churn semanal  |  SLA notif.</a:t>
            </a:r>
            <a:endParaRPr sz="1200"/>
          </a:p>
        </p:txBody>
      </p:sp>
      <p:sp>
        <p:nvSpPr>
          <p:cNvPr id="448" name="Google Shape;448;p36"/>
          <p:cNvSpPr/>
          <p:nvPr/>
        </p:nvSpPr>
        <p:spPr>
          <a:xfrm>
            <a:off x="240090" y="4203954"/>
            <a:ext cx="356705" cy="356616"/>
          </a:xfrm>
          <a:prstGeom prst="rect">
            <a:avLst/>
          </a:prstGeom>
          <a:solidFill>
            <a:srgbClr val="FBBCC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6"/>
          <p:cNvSpPr txBox="1"/>
          <p:nvPr/>
        </p:nvSpPr>
        <p:spPr>
          <a:xfrm>
            <a:off x="240090" y="4203954"/>
            <a:ext cx="356705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000" u="none" cap="none" strike="noStrike">
                <a:solidFill>
                  <a:srgbClr val="381267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100"/>
          </a:p>
        </p:txBody>
      </p:sp>
      <p:sp>
        <p:nvSpPr>
          <p:cNvPr id="450" name="Google Shape;450;p36"/>
          <p:cNvSpPr txBox="1"/>
          <p:nvPr/>
        </p:nvSpPr>
        <p:spPr>
          <a:xfrm>
            <a:off x="685972" y="4203954"/>
            <a:ext cx="21951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700" u="none" cap="none" strike="noStrike">
                <a:solidFill>
                  <a:srgbClr val="F687B3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sz="1100"/>
          </a:p>
        </p:txBody>
      </p:sp>
      <p:sp>
        <p:nvSpPr>
          <p:cNvPr id="451" name="Google Shape;451;p36"/>
          <p:cNvSpPr txBox="1"/>
          <p:nvPr/>
        </p:nvSpPr>
        <p:spPr>
          <a:xfrm>
            <a:off x="685972" y="4395978"/>
            <a:ext cx="2263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 &lt;55% revisar copy  |  Conv &lt;11% testar UX  |  Churn &gt;35% entrevistas</a:t>
            </a:r>
            <a:endParaRPr sz="1200"/>
          </a:p>
        </p:txBody>
      </p:sp>
      <p:pic>
        <p:nvPicPr>
          <p:cNvPr descr="fig_pdca_waterfall.png" id="452" name="Google Shape;45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1171" y="240030"/>
            <a:ext cx="5899356" cy="4732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